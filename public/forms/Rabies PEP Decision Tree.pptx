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Lst>
  <p:sldSz cy="11887200" cx="7772400"/>
  <p:notesSz cx="6858000" cy="9144000"/>
  <p:embeddedFontLst>
    <p:embeddedFont>
      <p:font typeface="Barlow Medium"/>
      <p:regular r:id="rId11"/>
      <p:bold r:id="rId12"/>
      <p:italic r:id="rId13"/>
      <p:boldItalic r:id="rId14"/>
    </p:embeddedFont>
    <p:embeddedFont>
      <p:font typeface="Barlow"/>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1210">
          <p15:clr>
            <a:srgbClr val="747775"/>
          </p15:clr>
        </p15:guide>
        <p15:guide id="2" pos="1423">
          <p15:clr>
            <a:srgbClr val="747775"/>
          </p15:clr>
        </p15:guide>
        <p15:guide id="3" pos="2344">
          <p15:clr>
            <a:srgbClr val="747775"/>
          </p15:clr>
        </p15:guide>
        <p15:guide id="4" pos="2560">
          <p15:clr>
            <a:srgbClr val="747775"/>
          </p15:clr>
        </p15:guide>
        <p15:guide id="5" pos="3479">
          <p15:clr>
            <a:srgbClr val="747775"/>
          </p15:clr>
        </p15:guide>
        <p15:guide id="6" pos="3692">
          <p15:clr>
            <a:srgbClr val="747775"/>
          </p15:clr>
        </p15:guide>
        <p15:guide id="7" pos="4614">
          <p15:clr>
            <a:srgbClr val="747775"/>
          </p15:clr>
        </p15:guide>
        <p15:guide id="8" pos="288">
          <p15:clr>
            <a:srgbClr val="747775"/>
          </p15:clr>
        </p15:guide>
        <p15:guide id="9" pos="4307">
          <p15:clr>
            <a:srgbClr val="747775"/>
          </p15:clr>
        </p15:guide>
        <p15:guide id="10" pos="749">
          <p15:clr>
            <a:srgbClr val="747775"/>
          </p15:clr>
        </p15:guide>
        <p15:guide id="11" pos="1884">
          <p15:clr>
            <a:srgbClr val="747775"/>
          </p15:clr>
        </p15:guide>
        <p15:guide id="12" pos="3018">
          <p15:clr>
            <a:srgbClr val="747775"/>
          </p15:clr>
        </p15:guide>
        <p15:guide id="13" pos="4153">
          <p15:clr>
            <a:srgbClr val="747775"/>
          </p15:clr>
        </p15:guide>
        <p15:guide id="14" orient="horz" pos="218">
          <p15:clr>
            <a:srgbClr val="747775"/>
          </p15:clr>
        </p15:guide>
        <p15:guide id="15" orient="horz" pos="564">
          <p15:clr>
            <a:srgbClr val="747775"/>
          </p15:clr>
        </p15:guide>
        <p15:guide id="16" orient="horz" pos="778">
          <p15:clr>
            <a:srgbClr val="747775"/>
          </p15:clr>
        </p15:guide>
        <p15:guide id="17" orient="horz" pos="1123">
          <p15:clr>
            <a:srgbClr val="747775"/>
          </p15:clr>
        </p15:guide>
        <p15:guide id="18" orient="horz" pos="1336">
          <p15:clr>
            <a:srgbClr val="747775"/>
          </p15:clr>
        </p15:guide>
        <p15:guide id="19" orient="horz" pos="1682">
          <p15:clr>
            <a:srgbClr val="747775"/>
          </p15:clr>
        </p15:guide>
        <p15:guide id="20" orient="horz" pos="1895">
          <p15:clr>
            <a:srgbClr val="747775"/>
          </p15:clr>
        </p15:guide>
        <p15:guide id="21" orient="horz" pos="2241">
          <p15:clr>
            <a:srgbClr val="747775"/>
          </p15:clr>
        </p15:guide>
        <p15:guide id="22" orient="horz" pos="2454">
          <p15:clr>
            <a:srgbClr val="747775"/>
          </p15:clr>
        </p15:guide>
        <p15:guide id="23" orient="horz" pos="2799">
          <p15:clr>
            <a:srgbClr val="747775"/>
          </p15:clr>
        </p15:guide>
        <p15:guide id="24" orient="horz" pos="3012">
          <p15:clr>
            <a:srgbClr val="747775"/>
          </p15:clr>
        </p15:guide>
        <p15:guide id="25" orient="horz" pos="3358">
          <p15:clr>
            <a:srgbClr val="747775"/>
          </p15:clr>
        </p15:guide>
        <p15:guide id="26" orient="horz" pos="3571">
          <p15:clr>
            <a:srgbClr val="747775"/>
          </p15:clr>
        </p15:guide>
        <p15:guide id="27" orient="horz" pos="3917">
          <p15:clr>
            <a:srgbClr val="747775"/>
          </p15:clr>
        </p15:guide>
        <p15:guide id="28" orient="horz" pos="4130">
          <p15:clr>
            <a:srgbClr val="747775"/>
          </p15:clr>
        </p15:guide>
        <p15:guide id="29" orient="horz" pos="4476">
          <p15:clr>
            <a:srgbClr val="747775"/>
          </p15:clr>
        </p15:guide>
        <p15:guide id="30" orient="horz" pos="4689">
          <p15:clr>
            <a:srgbClr val="747775"/>
          </p15:clr>
        </p15:guide>
        <p15:guide id="31" orient="horz" pos="5034">
          <p15:clr>
            <a:srgbClr val="747775"/>
          </p15:clr>
        </p15:guide>
        <p15:guide id="32" orient="horz" pos="5247">
          <p15:clr>
            <a:srgbClr val="747775"/>
          </p15:clr>
        </p15:guide>
        <p15:guide id="33" orient="horz" pos="5593">
          <p15:clr>
            <a:srgbClr val="747775"/>
          </p15:clr>
        </p15:guide>
        <p15:guide id="34" orient="horz" pos="5806">
          <p15:clr>
            <a:srgbClr val="747775"/>
          </p15:clr>
        </p15:guide>
        <p15:guide id="35" orient="horz" pos="6152">
          <p15:clr>
            <a:srgbClr val="747775"/>
          </p15:clr>
        </p15:guide>
        <p15:guide id="36" orient="horz" pos="6365">
          <p15:clr>
            <a:srgbClr val="747775"/>
          </p15:clr>
        </p15:guide>
        <p15:guide id="37" orient="horz" pos="6710">
          <p15:clr>
            <a:srgbClr val="747775"/>
          </p15:clr>
        </p15:guide>
        <p15:guide id="38" orient="horz" pos="6924">
          <p15:clr>
            <a:srgbClr val="747775"/>
          </p15:clr>
        </p15:guide>
        <p15:guide id="39" orient="horz" pos="7269">
          <p15:clr>
            <a:srgbClr val="747775"/>
          </p15:clr>
        </p15:guide>
        <p15:guide id="40" orient="horz" pos="7482">
          <p15:clr>
            <a:srgbClr val="747775"/>
          </p15:clr>
        </p15:guide>
      </p15:sldGuideLst>
    </p:ext>
    <p:ext uri="GoogleSlidesCustomDataVersion2">
      <go:slidesCustomData xmlns:go="http://customooxmlschemas.google.com/" r:id="rId19" roundtripDataSignature="AMtx7mhNKpggDyKIySeGPGF3j/BAnuE/a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F56B034-4C61-4C8F-8454-8E3EE46E3D2D}">
  <a:tblStyle styleId="{4F56B034-4C61-4C8F-8454-8E3EE46E3D2D}"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210"/>
        <p:guide pos="1423"/>
        <p:guide pos="2344"/>
        <p:guide pos="2560"/>
        <p:guide pos="3479"/>
        <p:guide pos="3692"/>
        <p:guide pos="4614"/>
        <p:guide pos="288"/>
        <p:guide pos="4307"/>
        <p:guide pos="749"/>
        <p:guide pos="1884"/>
        <p:guide pos="3018"/>
        <p:guide pos="4153"/>
        <p:guide pos="218" orient="horz"/>
        <p:guide pos="564" orient="horz"/>
        <p:guide pos="778" orient="horz"/>
        <p:guide pos="1123" orient="horz"/>
        <p:guide pos="1336" orient="horz"/>
        <p:guide pos="1682" orient="horz"/>
        <p:guide pos="1895" orient="horz"/>
        <p:guide pos="2241" orient="horz"/>
        <p:guide pos="2454" orient="horz"/>
        <p:guide pos="2799" orient="horz"/>
        <p:guide pos="3012" orient="horz"/>
        <p:guide pos="3358" orient="horz"/>
        <p:guide pos="3571" orient="horz"/>
        <p:guide pos="3917" orient="horz"/>
        <p:guide pos="4130" orient="horz"/>
        <p:guide pos="4476" orient="horz"/>
        <p:guide pos="4689" orient="horz"/>
        <p:guide pos="5034" orient="horz"/>
        <p:guide pos="5247" orient="horz"/>
        <p:guide pos="5593" orient="horz"/>
        <p:guide pos="5806" orient="horz"/>
        <p:guide pos="6152" orient="horz"/>
        <p:guide pos="6365" orient="horz"/>
        <p:guide pos="6710" orient="horz"/>
        <p:guide pos="6924" orient="horz"/>
        <p:guide pos="7269" orient="horz"/>
        <p:guide pos="7482" orient="horz"/>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BarlowMedium-regular.fntdata"/><Relationship Id="rId10" Type="http://schemas.openxmlformats.org/officeDocument/2006/relationships/slide" Target="slides/slide4.xml"/><Relationship Id="rId13" Type="http://schemas.openxmlformats.org/officeDocument/2006/relationships/font" Target="fonts/BarlowMedium-italic.fntdata"/><Relationship Id="rId12" Type="http://schemas.openxmlformats.org/officeDocument/2006/relationships/font" Target="fonts/BarlowMedium-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font" Target="fonts/Barlow-regular.fntdata"/><Relationship Id="rId14" Type="http://schemas.openxmlformats.org/officeDocument/2006/relationships/font" Target="fonts/BarlowMedium-boldItalic.fntdata"/><Relationship Id="rId17" Type="http://schemas.openxmlformats.org/officeDocument/2006/relationships/font" Target="fonts/Barlow-italic.fntdata"/><Relationship Id="rId16" Type="http://schemas.openxmlformats.org/officeDocument/2006/relationships/font" Target="fonts/Barlow-bold.fntdata"/><Relationship Id="rId5" Type="http://schemas.openxmlformats.org/officeDocument/2006/relationships/slideMaster" Target="slideMasters/slideMaster1.xml"/><Relationship Id="rId19" Type="http://customschemas.google.com/relationships/presentationmetadata" Target="metadata"/><Relationship Id="rId6" Type="http://schemas.openxmlformats.org/officeDocument/2006/relationships/notesMaster" Target="notesMasters/notesMaster1.xml"/><Relationship Id="rId18" Type="http://schemas.openxmlformats.org/officeDocument/2006/relationships/font" Target="fonts/Barlow-boldItalic.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308267" y="685800"/>
            <a:ext cx="22422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2308267" y="685800"/>
            <a:ext cx="22422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2:notes"/>
          <p:cNvSpPr/>
          <p:nvPr>
            <p:ph idx="2" type="sldImg"/>
          </p:nvPr>
        </p:nvSpPr>
        <p:spPr>
          <a:xfrm>
            <a:off x="2308267" y="685800"/>
            <a:ext cx="22422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3:notes"/>
          <p:cNvSpPr/>
          <p:nvPr>
            <p:ph idx="2" type="sldImg"/>
          </p:nvPr>
        </p:nvSpPr>
        <p:spPr>
          <a:xfrm>
            <a:off x="2308267" y="685800"/>
            <a:ext cx="22422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4:notes"/>
          <p:cNvSpPr/>
          <p:nvPr>
            <p:ph idx="2" type="sldImg"/>
          </p:nvPr>
        </p:nvSpPr>
        <p:spPr>
          <a:xfrm>
            <a:off x="2308267" y="685800"/>
            <a:ext cx="22422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6"/>
          <p:cNvSpPr txBox="1"/>
          <p:nvPr>
            <p:ph type="ctrTitle"/>
          </p:nvPr>
        </p:nvSpPr>
        <p:spPr>
          <a:xfrm>
            <a:off x="264952" y="1720796"/>
            <a:ext cx="7242600" cy="47439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6"/>
          <p:cNvSpPr txBox="1"/>
          <p:nvPr>
            <p:ph idx="1" type="subTitle"/>
          </p:nvPr>
        </p:nvSpPr>
        <p:spPr>
          <a:xfrm>
            <a:off x="264945" y="6549978"/>
            <a:ext cx="7242600" cy="18315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6"/>
          <p:cNvSpPr txBox="1"/>
          <p:nvPr>
            <p:ph idx="12" type="sldNum"/>
          </p:nvPr>
        </p:nvSpPr>
        <p:spPr>
          <a:xfrm>
            <a:off x="7201589" y="10777212"/>
            <a:ext cx="466500" cy="9093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7"/>
          <p:cNvSpPr txBox="1"/>
          <p:nvPr>
            <p:ph type="title"/>
          </p:nvPr>
        </p:nvSpPr>
        <p:spPr>
          <a:xfrm>
            <a:off x="264945" y="4970853"/>
            <a:ext cx="7242600" cy="19455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 name="Google Shape;15;p7"/>
          <p:cNvSpPr txBox="1"/>
          <p:nvPr>
            <p:ph idx="12" type="sldNum"/>
          </p:nvPr>
        </p:nvSpPr>
        <p:spPr>
          <a:xfrm>
            <a:off x="7201589" y="10777212"/>
            <a:ext cx="466500" cy="9093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8"/>
          <p:cNvSpPr txBox="1"/>
          <p:nvPr>
            <p:ph type="title"/>
          </p:nvPr>
        </p:nvSpPr>
        <p:spPr>
          <a:xfrm>
            <a:off x="264945" y="1028502"/>
            <a:ext cx="7242600" cy="132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8"/>
          <p:cNvSpPr txBox="1"/>
          <p:nvPr>
            <p:ph idx="1" type="body"/>
          </p:nvPr>
        </p:nvSpPr>
        <p:spPr>
          <a:xfrm>
            <a:off x="264945" y="2663498"/>
            <a:ext cx="7242600" cy="78960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 name="Google Shape;19;p8"/>
          <p:cNvSpPr txBox="1"/>
          <p:nvPr>
            <p:ph idx="12" type="sldNum"/>
          </p:nvPr>
        </p:nvSpPr>
        <p:spPr>
          <a:xfrm>
            <a:off x="7201589" y="10777212"/>
            <a:ext cx="466500" cy="9093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9"/>
          <p:cNvSpPr txBox="1"/>
          <p:nvPr>
            <p:ph type="title"/>
          </p:nvPr>
        </p:nvSpPr>
        <p:spPr>
          <a:xfrm>
            <a:off x="264945" y="1028502"/>
            <a:ext cx="7242600" cy="132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9"/>
          <p:cNvSpPr txBox="1"/>
          <p:nvPr>
            <p:ph idx="1" type="body"/>
          </p:nvPr>
        </p:nvSpPr>
        <p:spPr>
          <a:xfrm>
            <a:off x="264945" y="2663498"/>
            <a:ext cx="3399900" cy="78960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9"/>
          <p:cNvSpPr txBox="1"/>
          <p:nvPr>
            <p:ph idx="2" type="body"/>
          </p:nvPr>
        </p:nvSpPr>
        <p:spPr>
          <a:xfrm>
            <a:off x="4107540" y="2663498"/>
            <a:ext cx="3399900" cy="78960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9"/>
          <p:cNvSpPr txBox="1"/>
          <p:nvPr>
            <p:ph idx="12" type="sldNum"/>
          </p:nvPr>
        </p:nvSpPr>
        <p:spPr>
          <a:xfrm>
            <a:off x="7201589" y="10777212"/>
            <a:ext cx="466500" cy="9093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10"/>
          <p:cNvSpPr txBox="1"/>
          <p:nvPr>
            <p:ph type="title"/>
          </p:nvPr>
        </p:nvSpPr>
        <p:spPr>
          <a:xfrm>
            <a:off x="264945" y="1028502"/>
            <a:ext cx="7242600" cy="132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10"/>
          <p:cNvSpPr txBox="1"/>
          <p:nvPr>
            <p:ph idx="12" type="sldNum"/>
          </p:nvPr>
        </p:nvSpPr>
        <p:spPr>
          <a:xfrm>
            <a:off x="7201589" y="10777212"/>
            <a:ext cx="466500" cy="9093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11"/>
          <p:cNvSpPr txBox="1"/>
          <p:nvPr>
            <p:ph type="title"/>
          </p:nvPr>
        </p:nvSpPr>
        <p:spPr>
          <a:xfrm>
            <a:off x="264945" y="1284053"/>
            <a:ext cx="2386800" cy="17466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11"/>
          <p:cNvSpPr txBox="1"/>
          <p:nvPr>
            <p:ph idx="1" type="body"/>
          </p:nvPr>
        </p:nvSpPr>
        <p:spPr>
          <a:xfrm>
            <a:off x="264945" y="3211520"/>
            <a:ext cx="2386800" cy="73482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11"/>
          <p:cNvSpPr txBox="1"/>
          <p:nvPr>
            <p:ph idx="12" type="sldNum"/>
          </p:nvPr>
        </p:nvSpPr>
        <p:spPr>
          <a:xfrm>
            <a:off x="7201589" y="10777212"/>
            <a:ext cx="466500" cy="9093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12"/>
          <p:cNvSpPr txBox="1"/>
          <p:nvPr>
            <p:ph type="title"/>
          </p:nvPr>
        </p:nvSpPr>
        <p:spPr>
          <a:xfrm>
            <a:off x="416713" y="1040347"/>
            <a:ext cx="5412600" cy="94542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12"/>
          <p:cNvSpPr txBox="1"/>
          <p:nvPr>
            <p:ph idx="12" type="sldNum"/>
          </p:nvPr>
        </p:nvSpPr>
        <p:spPr>
          <a:xfrm>
            <a:off x="7201589" y="10777212"/>
            <a:ext cx="466500" cy="9093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13"/>
          <p:cNvSpPr/>
          <p:nvPr/>
        </p:nvSpPr>
        <p:spPr>
          <a:xfrm>
            <a:off x="3886200" y="-289"/>
            <a:ext cx="3886200" cy="118872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3"/>
          <p:cNvSpPr txBox="1"/>
          <p:nvPr>
            <p:ph type="title"/>
          </p:nvPr>
        </p:nvSpPr>
        <p:spPr>
          <a:xfrm>
            <a:off x="225675" y="2850004"/>
            <a:ext cx="3438300" cy="34257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13"/>
          <p:cNvSpPr txBox="1"/>
          <p:nvPr>
            <p:ph idx="1" type="subTitle"/>
          </p:nvPr>
        </p:nvSpPr>
        <p:spPr>
          <a:xfrm>
            <a:off x="225675" y="6478218"/>
            <a:ext cx="3438300" cy="28542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13"/>
          <p:cNvSpPr txBox="1"/>
          <p:nvPr>
            <p:ph idx="2" type="body"/>
          </p:nvPr>
        </p:nvSpPr>
        <p:spPr>
          <a:xfrm>
            <a:off x="4198575" y="1673418"/>
            <a:ext cx="3261600" cy="85395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13"/>
          <p:cNvSpPr txBox="1"/>
          <p:nvPr>
            <p:ph idx="12" type="sldNum"/>
          </p:nvPr>
        </p:nvSpPr>
        <p:spPr>
          <a:xfrm>
            <a:off x="7201589" y="10777212"/>
            <a:ext cx="466500" cy="9093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4"/>
          <p:cNvSpPr txBox="1"/>
          <p:nvPr>
            <p:ph idx="1" type="body"/>
          </p:nvPr>
        </p:nvSpPr>
        <p:spPr>
          <a:xfrm>
            <a:off x="264945" y="9777329"/>
            <a:ext cx="5099100" cy="13986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4"/>
          <p:cNvSpPr txBox="1"/>
          <p:nvPr>
            <p:ph idx="12" type="sldNum"/>
          </p:nvPr>
        </p:nvSpPr>
        <p:spPr>
          <a:xfrm>
            <a:off x="7201589" y="10777212"/>
            <a:ext cx="466500" cy="9093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5"/>
          <p:cNvSpPr txBox="1"/>
          <p:nvPr>
            <p:ph hasCustomPrompt="1" type="title"/>
          </p:nvPr>
        </p:nvSpPr>
        <p:spPr>
          <a:xfrm>
            <a:off x="264945" y="2556378"/>
            <a:ext cx="7242600" cy="45378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5"/>
          <p:cNvSpPr txBox="1"/>
          <p:nvPr>
            <p:ph idx="1" type="body"/>
          </p:nvPr>
        </p:nvSpPr>
        <p:spPr>
          <a:xfrm>
            <a:off x="264945" y="7285142"/>
            <a:ext cx="7242600" cy="30063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5"/>
          <p:cNvSpPr txBox="1"/>
          <p:nvPr>
            <p:ph idx="12" type="sldNum"/>
          </p:nvPr>
        </p:nvSpPr>
        <p:spPr>
          <a:xfrm>
            <a:off x="7201589" y="10777212"/>
            <a:ext cx="466500" cy="9093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6"/>
          <p:cNvSpPr txBox="1"/>
          <p:nvPr>
            <p:ph idx="12" type="sldNum"/>
          </p:nvPr>
        </p:nvSpPr>
        <p:spPr>
          <a:xfrm>
            <a:off x="7201589" y="10777212"/>
            <a:ext cx="466500" cy="9093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5"/>
          <p:cNvSpPr txBox="1"/>
          <p:nvPr>
            <p:ph type="title"/>
          </p:nvPr>
        </p:nvSpPr>
        <p:spPr>
          <a:xfrm>
            <a:off x="264945" y="1028502"/>
            <a:ext cx="7242600" cy="13236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5"/>
          <p:cNvSpPr txBox="1"/>
          <p:nvPr>
            <p:ph idx="1" type="body"/>
          </p:nvPr>
        </p:nvSpPr>
        <p:spPr>
          <a:xfrm>
            <a:off x="264945" y="2663498"/>
            <a:ext cx="7242600" cy="78960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5"/>
          <p:cNvSpPr txBox="1"/>
          <p:nvPr>
            <p:ph idx="12" type="sldNum"/>
          </p:nvPr>
        </p:nvSpPr>
        <p:spPr>
          <a:xfrm>
            <a:off x="7201589" y="10777212"/>
            <a:ext cx="466500" cy="9093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 name="Shape 53"/>
        <p:cNvGrpSpPr/>
        <p:nvPr/>
      </p:nvGrpSpPr>
      <p:grpSpPr>
        <a:xfrm>
          <a:off x="0" y="0"/>
          <a:ext cx="0" cy="0"/>
          <a:chOff x="0" y="0"/>
          <a:chExt cx="0" cy="0"/>
        </a:xfrm>
      </p:grpSpPr>
      <p:sp>
        <p:nvSpPr>
          <p:cNvPr id="54" name="Google Shape;54;p1"/>
          <p:cNvSpPr/>
          <p:nvPr/>
        </p:nvSpPr>
        <p:spPr>
          <a:xfrm>
            <a:off x="3800" y="0"/>
            <a:ext cx="7772400" cy="11887200"/>
          </a:xfrm>
          <a:prstGeom prst="rect">
            <a:avLst/>
          </a:prstGeom>
          <a:gradFill>
            <a:gsLst>
              <a:gs pos="0">
                <a:srgbClr val="FFF6D6"/>
              </a:gs>
              <a:gs pos="50000">
                <a:srgbClr val="FFEFB3"/>
              </a:gs>
              <a:gs pos="100000">
                <a:srgbClr val="FFE59D"/>
              </a:gs>
            </a:gsLst>
            <a:lin ang="5400700"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1"/>
          <p:cNvSpPr/>
          <p:nvPr/>
        </p:nvSpPr>
        <p:spPr>
          <a:xfrm>
            <a:off x="457200" y="345525"/>
            <a:ext cx="1463100" cy="548700"/>
          </a:xfrm>
          <a:prstGeom prst="flowChartAlternateProcess">
            <a:avLst/>
          </a:prstGeom>
          <a:solidFill>
            <a:srgbClr val="E6D9F7"/>
          </a:solidFill>
          <a:ln cap="flat" cmpd="sng" w="19050">
            <a:solidFill>
              <a:srgbClr val="7F5BB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Barlow Medium"/>
                <a:ea typeface="Barlow Medium"/>
                <a:cs typeface="Barlow Medium"/>
                <a:sym typeface="Barlow Medium"/>
              </a:rPr>
              <a:t>Patient presenting with </a:t>
            </a:r>
            <a:r>
              <a:rPr b="1" i="0" lang="en" sz="900" u="none" cap="none" strike="noStrike">
                <a:solidFill>
                  <a:schemeClr val="dk1"/>
                </a:solidFill>
                <a:latin typeface="Barlow"/>
                <a:ea typeface="Barlow"/>
                <a:cs typeface="Barlow"/>
                <a:sym typeface="Barlow"/>
              </a:rPr>
              <a:t>potential rabies exposure</a:t>
            </a:r>
            <a:endParaRPr b="1" i="0" sz="1400" u="none" cap="none" strike="noStrike">
              <a:solidFill>
                <a:srgbClr val="000000"/>
              </a:solidFill>
              <a:latin typeface="Arial"/>
              <a:ea typeface="Arial"/>
              <a:cs typeface="Arial"/>
              <a:sym typeface="Arial"/>
            </a:endParaRPr>
          </a:p>
        </p:txBody>
      </p:sp>
      <p:sp>
        <p:nvSpPr>
          <p:cNvPr id="56" name="Google Shape;56;p1"/>
          <p:cNvSpPr/>
          <p:nvPr/>
        </p:nvSpPr>
        <p:spPr>
          <a:xfrm>
            <a:off x="1143000" y="894235"/>
            <a:ext cx="91500" cy="338400"/>
          </a:xfrm>
          <a:prstGeom prst="downArrow">
            <a:avLst>
              <a:gd fmla="val 18525" name="adj1"/>
              <a:gd fmla="val 133060" name="adj2"/>
            </a:avLst>
          </a:prstGeom>
          <a:solidFill>
            <a:schemeClr val="dk2"/>
          </a:solidFill>
          <a:ln>
            <a:noFill/>
          </a:ln>
        </p:spPr>
        <p:txBody>
          <a:bodyPr anchorCtr="0" anchor="t"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t/>
            </a:r>
            <a:endParaRPr b="1" i="0" sz="1000" u="none" cap="none" strike="noStrike">
              <a:solidFill>
                <a:srgbClr val="000000"/>
              </a:solidFill>
              <a:highlight>
                <a:schemeClr val="lt1"/>
              </a:highlight>
              <a:latin typeface="Barlow"/>
              <a:ea typeface="Barlow"/>
              <a:cs typeface="Barlow"/>
              <a:sym typeface="Barlow"/>
            </a:endParaRPr>
          </a:p>
        </p:txBody>
      </p:sp>
      <p:sp>
        <p:nvSpPr>
          <p:cNvPr id="57" name="Google Shape;57;p1"/>
          <p:cNvSpPr/>
          <p:nvPr/>
        </p:nvSpPr>
        <p:spPr>
          <a:xfrm>
            <a:off x="457225" y="1231463"/>
            <a:ext cx="1463050" cy="548640"/>
          </a:xfrm>
          <a:prstGeom prst="flowChartPreparation">
            <a:avLst/>
          </a:prstGeom>
          <a:solidFill>
            <a:srgbClr val="CFF4D2"/>
          </a:solidFill>
          <a:ln cap="flat" cmpd="sng" w="19050">
            <a:solidFill>
              <a:srgbClr val="5DAE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Barlow Medium"/>
                <a:ea typeface="Barlow Medium"/>
                <a:cs typeface="Barlow Medium"/>
                <a:sym typeface="Barlow Medium"/>
              </a:rPr>
              <a:t>Exposure from a </a:t>
            </a:r>
            <a:r>
              <a:rPr b="1" i="0" lang="en" sz="900" u="none" cap="none" strike="noStrike">
                <a:solidFill>
                  <a:schemeClr val="dk1"/>
                </a:solidFill>
                <a:latin typeface="Barlow"/>
                <a:ea typeface="Barlow"/>
                <a:cs typeface="Barlow"/>
                <a:sym typeface="Barlow"/>
              </a:rPr>
              <a:t>dog</a:t>
            </a:r>
            <a:r>
              <a:rPr b="0" i="0" lang="en" sz="900" u="none" cap="none" strike="noStrike">
                <a:solidFill>
                  <a:schemeClr val="dk1"/>
                </a:solidFill>
                <a:latin typeface="Barlow Medium"/>
                <a:ea typeface="Barlow Medium"/>
                <a:cs typeface="Barlow Medium"/>
                <a:sym typeface="Barlow Medium"/>
              </a:rPr>
              <a:t>, </a:t>
            </a:r>
            <a:r>
              <a:rPr b="1" i="0" lang="en" sz="900" u="none" cap="none" strike="noStrike">
                <a:solidFill>
                  <a:schemeClr val="dk1"/>
                </a:solidFill>
                <a:latin typeface="Barlow"/>
                <a:ea typeface="Barlow"/>
                <a:cs typeface="Barlow"/>
                <a:sym typeface="Barlow"/>
              </a:rPr>
              <a:t>cat</a:t>
            </a:r>
            <a:r>
              <a:rPr b="0" i="0" lang="en" sz="900" u="none" cap="none" strike="noStrike">
                <a:solidFill>
                  <a:schemeClr val="dk1"/>
                </a:solidFill>
                <a:latin typeface="Barlow Medium"/>
                <a:ea typeface="Barlow Medium"/>
                <a:cs typeface="Barlow Medium"/>
                <a:sym typeface="Barlow Medium"/>
              </a:rPr>
              <a:t>, or other </a:t>
            </a:r>
            <a:r>
              <a:rPr b="1" i="0" lang="en" sz="900" u="none" cap="none" strike="noStrike">
                <a:solidFill>
                  <a:schemeClr val="dk1"/>
                </a:solidFill>
                <a:latin typeface="Barlow"/>
                <a:ea typeface="Barlow"/>
                <a:cs typeface="Barlow"/>
                <a:sym typeface="Barlow"/>
              </a:rPr>
              <a:t>rabies-susceptible</a:t>
            </a:r>
            <a:r>
              <a:rPr b="0" i="0" lang="en" sz="900" u="none" cap="none" strike="noStrike">
                <a:solidFill>
                  <a:schemeClr val="dk1"/>
                </a:solidFill>
                <a:latin typeface="Barlow Medium"/>
                <a:ea typeface="Barlow Medium"/>
                <a:cs typeface="Barlow Medium"/>
                <a:sym typeface="Barlow Medium"/>
              </a:rPr>
              <a:t> </a:t>
            </a:r>
            <a:r>
              <a:rPr b="1" i="0" lang="en" sz="900" u="none" cap="none" strike="noStrike">
                <a:solidFill>
                  <a:schemeClr val="dk1"/>
                </a:solidFill>
                <a:latin typeface="Barlow"/>
                <a:ea typeface="Barlow"/>
                <a:cs typeface="Barlow"/>
                <a:sym typeface="Barlow"/>
              </a:rPr>
              <a:t>mammal</a:t>
            </a:r>
            <a:r>
              <a:rPr b="1" baseline="30000" i="0" lang="en" sz="900" u="none" cap="none" strike="noStrike">
                <a:solidFill>
                  <a:schemeClr val="dk1"/>
                </a:solidFill>
                <a:latin typeface="Barlow"/>
                <a:ea typeface="Barlow"/>
                <a:cs typeface="Barlow"/>
                <a:sym typeface="Barlow"/>
              </a:rPr>
              <a:t>A</a:t>
            </a:r>
            <a:r>
              <a:rPr b="0" i="0" lang="en" sz="900" u="none" cap="none" strike="noStrike">
                <a:solidFill>
                  <a:schemeClr val="dk1"/>
                </a:solidFill>
                <a:latin typeface="Barlow Medium"/>
                <a:ea typeface="Barlow Medium"/>
                <a:cs typeface="Barlow Medium"/>
                <a:sym typeface="Barlow Medium"/>
              </a:rPr>
              <a:t>?</a:t>
            </a:r>
            <a:endParaRPr b="0" i="0" sz="1400" u="none" cap="none" strike="noStrike">
              <a:solidFill>
                <a:srgbClr val="000000"/>
              </a:solidFill>
              <a:latin typeface="Arial"/>
              <a:ea typeface="Arial"/>
              <a:cs typeface="Arial"/>
              <a:sym typeface="Arial"/>
            </a:endParaRPr>
          </a:p>
        </p:txBody>
      </p:sp>
      <p:sp>
        <p:nvSpPr>
          <p:cNvPr id="58" name="Google Shape;58;p1"/>
          <p:cNvSpPr/>
          <p:nvPr/>
        </p:nvSpPr>
        <p:spPr>
          <a:xfrm>
            <a:off x="1142950" y="1781135"/>
            <a:ext cx="91500" cy="338400"/>
          </a:xfrm>
          <a:prstGeom prst="downArrow">
            <a:avLst>
              <a:gd fmla="val 18525" name="adj1"/>
              <a:gd fmla="val 133060" name="adj2"/>
            </a:avLst>
          </a:prstGeom>
          <a:solidFill>
            <a:srgbClr val="2F9E44"/>
          </a:solidFill>
          <a:ln>
            <a:noFill/>
          </a:ln>
        </p:spPr>
        <p:txBody>
          <a:bodyPr anchorCtr="0" anchor="t"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000000"/>
                </a:solidFill>
                <a:highlight>
                  <a:srgbClr val="FFF6D6"/>
                </a:highlight>
                <a:latin typeface="Barlow"/>
                <a:ea typeface="Barlow"/>
                <a:cs typeface="Barlow"/>
                <a:sym typeface="Barlow"/>
              </a:rPr>
              <a:t>Y</a:t>
            </a:r>
            <a:endParaRPr b="1" i="0" sz="1000" u="none" cap="none" strike="noStrike">
              <a:solidFill>
                <a:srgbClr val="000000"/>
              </a:solidFill>
              <a:highlight>
                <a:srgbClr val="FFF6D6"/>
              </a:highlight>
              <a:latin typeface="Barlow"/>
              <a:ea typeface="Barlow"/>
              <a:cs typeface="Barlow"/>
              <a:sym typeface="Barlow"/>
            </a:endParaRPr>
          </a:p>
        </p:txBody>
      </p:sp>
      <p:sp>
        <p:nvSpPr>
          <p:cNvPr id="59" name="Google Shape;59;p1"/>
          <p:cNvSpPr/>
          <p:nvPr/>
        </p:nvSpPr>
        <p:spPr>
          <a:xfrm>
            <a:off x="457250" y="2117350"/>
            <a:ext cx="1463050" cy="548640"/>
          </a:xfrm>
          <a:prstGeom prst="flowChartPreparation">
            <a:avLst/>
          </a:prstGeom>
          <a:solidFill>
            <a:srgbClr val="CFF4D2"/>
          </a:solidFill>
          <a:ln cap="flat" cmpd="sng" w="19050">
            <a:solidFill>
              <a:srgbClr val="5DAE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Barlow Medium"/>
                <a:ea typeface="Barlow Medium"/>
                <a:cs typeface="Barlow Medium"/>
                <a:sym typeface="Barlow Medium"/>
              </a:rPr>
              <a:t>Exposure </a:t>
            </a:r>
            <a:r>
              <a:rPr b="1" i="0" lang="en" sz="900" u="none" cap="none" strike="noStrike">
                <a:solidFill>
                  <a:schemeClr val="dk1"/>
                </a:solidFill>
                <a:latin typeface="Barlow"/>
                <a:ea typeface="Barlow"/>
                <a:cs typeface="Barlow"/>
                <a:sym typeface="Barlow"/>
              </a:rPr>
              <a:t>&gt;14 days ago</a:t>
            </a:r>
            <a:r>
              <a:rPr b="0" i="0" lang="en" sz="900" u="none" cap="none" strike="noStrike">
                <a:solidFill>
                  <a:schemeClr val="dk1"/>
                </a:solidFill>
                <a:latin typeface="Barlow Medium"/>
                <a:ea typeface="Barlow Medium"/>
                <a:cs typeface="Barlow Medium"/>
                <a:sym typeface="Barlow Medium"/>
              </a:rPr>
              <a:t>?</a:t>
            </a:r>
            <a:endParaRPr b="0" i="0" sz="1400" u="none" cap="none" strike="noStrike">
              <a:solidFill>
                <a:srgbClr val="000000"/>
              </a:solidFill>
              <a:latin typeface="Barlow Medium"/>
              <a:ea typeface="Barlow Medium"/>
              <a:cs typeface="Barlow Medium"/>
              <a:sym typeface="Barlow Medium"/>
            </a:endParaRPr>
          </a:p>
        </p:txBody>
      </p:sp>
      <p:sp>
        <p:nvSpPr>
          <p:cNvPr id="60" name="Google Shape;60;p1"/>
          <p:cNvSpPr/>
          <p:nvPr/>
        </p:nvSpPr>
        <p:spPr>
          <a:xfrm>
            <a:off x="1920313" y="2345913"/>
            <a:ext cx="338400" cy="91500"/>
          </a:xfrm>
          <a:prstGeom prst="rightArrow">
            <a:avLst>
              <a:gd fmla="val 17338" name="adj1"/>
              <a:gd fmla="val 133060" name="adj2"/>
            </a:avLst>
          </a:prstGeom>
          <a:solidFill>
            <a:srgbClr val="2F9E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highlight>
                  <a:srgbClr val="FFF3C7"/>
                </a:highlight>
                <a:latin typeface="Barlow"/>
                <a:ea typeface="Barlow"/>
                <a:cs typeface="Barlow"/>
                <a:sym typeface="Barlow"/>
              </a:rPr>
              <a:t>Y</a:t>
            </a:r>
            <a:endParaRPr b="1" i="0" sz="1000" u="none" cap="none" strike="noStrike">
              <a:solidFill>
                <a:srgbClr val="000000"/>
              </a:solidFill>
              <a:highlight>
                <a:srgbClr val="FFF3C7"/>
              </a:highlight>
              <a:latin typeface="Barlow"/>
              <a:ea typeface="Barlow"/>
              <a:cs typeface="Barlow"/>
              <a:sym typeface="Barlow"/>
            </a:endParaRPr>
          </a:p>
        </p:txBody>
      </p:sp>
      <p:sp>
        <p:nvSpPr>
          <p:cNvPr id="61" name="Google Shape;61;p1"/>
          <p:cNvSpPr txBox="1"/>
          <p:nvPr/>
        </p:nvSpPr>
        <p:spPr>
          <a:xfrm>
            <a:off x="2258686" y="1231426"/>
            <a:ext cx="1463100" cy="548700"/>
          </a:xfrm>
          <a:prstGeom prst="rect">
            <a:avLst/>
          </a:prstGeom>
          <a:solidFill>
            <a:srgbClr val="CFE8FF"/>
          </a:solidFill>
          <a:ln cap="flat" cmpd="sng" w="19050">
            <a:solidFill>
              <a:srgbClr val="5B9B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Barlow Medium"/>
                <a:ea typeface="Barlow Medium"/>
                <a:cs typeface="Barlow Medium"/>
                <a:sym typeface="Barlow Medium"/>
              </a:rPr>
              <a:t>PEP </a:t>
            </a:r>
            <a:r>
              <a:rPr b="1" i="0" lang="en" sz="900" u="none" cap="none" strike="noStrike">
                <a:solidFill>
                  <a:schemeClr val="dk1"/>
                </a:solidFill>
                <a:latin typeface="Barlow"/>
                <a:ea typeface="Barlow"/>
                <a:cs typeface="Barlow"/>
                <a:sym typeface="Barlow"/>
              </a:rPr>
              <a:t>not </a:t>
            </a:r>
            <a:r>
              <a:rPr b="0" i="0" lang="en" sz="900" u="none" cap="none" strike="noStrike">
                <a:solidFill>
                  <a:schemeClr val="dk1"/>
                </a:solidFill>
                <a:latin typeface="Barlow Medium"/>
                <a:ea typeface="Barlow Medium"/>
                <a:cs typeface="Barlow Medium"/>
                <a:sym typeface="Barlow Medium"/>
              </a:rPr>
              <a:t>indicated</a:t>
            </a:r>
            <a:endParaRPr b="0" i="1" sz="900" u="none" cap="none" strike="noStrike">
              <a:solidFill>
                <a:schemeClr val="dk1"/>
              </a:solidFill>
              <a:latin typeface="Barlow Medium"/>
              <a:ea typeface="Barlow Medium"/>
              <a:cs typeface="Barlow Medium"/>
              <a:sym typeface="Barlow Medium"/>
            </a:endParaRPr>
          </a:p>
        </p:txBody>
      </p:sp>
      <p:sp>
        <p:nvSpPr>
          <p:cNvPr id="62" name="Google Shape;62;p1"/>
          <p:cNvSpPr/>
          <p:nvPr/>
        </p:nvSpPr>
        <p:spPr>
          <a:xfrm>
            <a:off x="2258750" y="2117363"/>
            <a:ext cx="1463050" cy="548640"/>
          </a:xfrm>
          <a:prstGeom prst="flowChartPreparation">
            <a:avLst/>
          </a:prstGeom>
          <a:solidFill>
            <a:srgbClr val="CFF4D2"/>
          </a:solidFill>
          <a:ln cap="flat" cmpd="sng" w="19050">
            <a:solidFill>
              <a:srgbClr val="5DAE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Barlow Medium"/>
                <a:ea typeface="Barlow Medium"/>
                <a:cs typeface="Barlow Medium"/>
                <a:sym typeface="Barlow Medium"/>
              </a:rPr>
              <a:t>Animal </a:t>
            </a:r>
            <a:r>
              <a:rPr b="1" i="0" lang="en" sz="900" u="none" cap="none" strike="noStrike">
                <a:solidFill>
                  <a:schemeClr val="dk1"/>
                </a:solidFill>
                <a:latin typeface="Barlow"/>
                <a:ea typeface="Barlow"/>
                <a:cs typeface="Barlow"/>
                <a:sym typeface="Barlow"/>
              </a:rPr>
              <a:t>alive </a:t>
            </a:r>
            <a:r>
              <a:rPr b="0" i="0" lang="en" sz="900" u="none" cap="none" strike="noStrike">
                <a:solidFill>
                  <a:schemeClr val="dk1"/>
                </a:solidFill>
                <a:latin typeface="Barlow Medium"/>
                <a:ea typeface="Barlow Medium"/>
                <a:cs typeface="Barlow Medium"/>
                <a:sym typeface="Barlow Medium"/>
              </a:rPr>
              <a:t>and healthy?</a:t>
            </a:r>
            <a:endParaRPr b="0" i="0" sz="1400" u="none" cap="none" strike="noStrike">
              <a:solidFill>
                <a:srgbClr val="000000"/>
              </a:solidFill>
              <a:latin typeface="Barlow Medium"/>
              <a:ea typeface="Barlow Medium"/>
              <a:cs typeface="Barlow Medium"/>
              <a:sym typeface="Barlow Medium"/>
            </a:endParaRPr>
          </a:p>
        </p:txBody>
      </p:sp>
      <p:sp>
        <p:nvSpPr>
          <p:cNvPr id="63" name="Google Shape;63;p1"/>
          <p:cNvSpPr/>
          <p:nvPr/>
        </p:nvSpPr>
        <p:spPr>
          <a:xfrm>
            <a:off x="3716950" y="2345938"/>
            <a:ext cx="338400" cy="91500"/>
          </a:xfrm>
          <a:prstGeom prst="rightArrow">
            <a:avLst>
              <a:gd fmla="val 17338" name="adj1"/>
              <a:gd fmla="val 133060" name="adj2"/>
            </a:avLst>
          </a:prstGeom>
          <a:solidFill>
            <a:srgbClr val="2F9E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highlight>
                  <a:srgbClr val="FFF3C7"/>
                </a:highlight>
                <a:latin typeface="Barlow"/>
                <a:ea typeface="Barlow"/>
                <a:cs typeface="Barlow"/>
                <a:sym typeface="Barlow"/>
              </a:rPr>
              <a:t>Y</a:t>
            </a:r>
            <a:endParaRPr b="1" i="0" sz="1000" u="none" cap="none" strike="noStrike">
              <a:solidFill>
                <a:srgbClr val="000000"/>
              </a:solidFill>
              <a:highlight>
                <a:srgbClr val="FFF3C7"/>
              </a:highlight>
              <a:latin typeface="Barlow"/>
              <a:ea typeface="Barlow"/>
              <a:cs typeface="Barlow"/>
              <a:sym typeface="Barlow"/>
            </a:endParaRPr>
          </a:p>
        </p:txBody>
      </p:sp>
      <p:sp>
        <p:nvSpPr>
          <p:cNvPr id="64" name="Google Shape;64;p1"/>
          <p:cNvSpPr txBox="1"/>
          <p:nvPr/>
        </p:nvSpPr>
        <p:spPr>
          <a:xfrm>
            <a:off x="4060311" y="2117313"/>
            <a:ext cx="1463100" cy="548700"/>
          </a:xfrm>
          <a:prstGeom prst="rect">
            <a:avLst/>
          </a:prstGeom>
          <a:solidFill>
            <a:srgbClr val="CFE8FF"/>
          </a:solidFill>
          <a:ln cap="flat" cmpd="sng" w="19050">
            <a:solidFill>
              <a:srgbClr val="5B9B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Barlow Medium"/>
                <a:ea typeface="Barlow Medium"/>
                <a:cs typeface="Barlow Medium"/>
                <a:sym typeface="Barlow Medium"/>
              </a:rPr>
              <a:t>PEP </a:t>
            </a:r>
            <a:r>
              <a:rPr b="1" i="0" lang="en" sz="900" u="none" cap="none" strike="noStrike">
                <a:solidFill>
                  <a:schemeClr val="dk1"/>
                </a:solidFill>
                <a:latin typeface="Barlow"/>
                <a:ea typeface="Barlow"/>
                <a:cs typeface="Barlow"/>
                <a:sym typeface="Barlow"/>
              </a:rPr>
              <a:t>not </a:t>
            </a:r>
            <a:r>
              <a:rPr b="0" i="0" lang="en" sz="900" u="none" cap="none" strike="noStrike">
                <a:solidFill>
                  <a:schemeClr val="dk1"/>
                </a:solidFill>
                <a:latin typeface="Barlow Medium"/>
                <a:ea typeface="Barlow Medium"/>
                <a:cs typeface="Barlow Medium"/>
                <a:sym typeface="Barlow Medium"/>
              </a:rPr>
              <a:t>indicated</a:t>
            </a:r>
            <a:endParaRPr b="0" i="1" sz="900" u="none" cap="none" strike="noStrike">
              <a:solidFill>
                <a:schemeClr val="dk1"/>
              </a:solidFill>
              <a:latin typeface="Barlow Medium"/>
              <a:ea typeface="Barlow Medium"/>
              <a:cs typeface="Barlow Medium"/>
              <a:sym typeface="Barlow Medium"/>
            </a:endParaRPr>
          </a:p>
        </p:txBody>
      </p:sp>
      <p:sp>
        <p:nvSpPr>
          <p:cNvPr id="65" name="Google Shape;65;p1"/>
          <p:cNvSpPr/>
          <p:nvPr/>
        </p:nvSpPr>
        <p:spPr>
          <a:xfrm>
            <a:off x="457250" y="3008450"/>
            <a:ext cx="1463050" cy="548640"/>
          </a:xfrm>
          <a:prstGeom prst="flowChartPreparation">
            <a:avLst/>
          </a:prstGeom>
          <a:solidFill>
            <a:srgbClr val="CFF4D2"/>
          </a:solidFill>
          <a:ln cap="flat" cmpd="sng" w="19050">
            <a:solidFill>
              <a:srgbClr val="5DAE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Barlow Medium"/>
                <a:ea typeface="Barlow Medium"/>
                <a:cs typeface="Barlow Medium"/>
                <a:sym typeface="Barlow Medium"/>
              </a:rPr>
              <a:t>Exposure under </a:t>
            </a:r>
            <a:r>
              <a:rPr b="1" i="0" lang="en" sz="900" u="none" cap="none" strike="noStrike">
                <a:solidFill>
                  <a:schemeClr val="dk1"/>
                </a:solidFill>
                <a:latin typeface="Barlow"/>
                <a:ea typeface="Barlow"/>
                <a:cs typeface="Barlow"/>
                <a:sym typeface="Barlow"/>
              </a:rPr>
              <a:t>category I</a:t>
            </a:r>
            <a:r>
              <a:rPr b="0" i="0" lang="en" sz="900" u="none" cap="none" strike="noStrike">
                <a:solidFill>
                  <a:schemeClr val="dk1"/>
                </a:solidFill>
                <a:latin typeface="Barlow Medium"/>
                <a:ea typeface="Barlow Medium"/>
                <a:cs typeface="Barlow Medium"/>
                <a:sym typeface="Barlow Medium"/>
              </a:rPr>
              <a:t>?</a:t>
            </a:r>
            <a:endParaRPr b="0" i="0" sz="1400" u="none" cap="none" strike="noStrike">
              <a:solidFill>
                <a:srgbClr val="000000"/>
              </a:solidFill>
              <a:latin typeface="Arial"/>
              <a:ea typeface="Arial"/>
              <a:cs typeface="Arial"/>
              <a:sym typeface="Arial"/>
            </a:endParaRPr>
          </a:p>
        </p:txBody>
      </p:sp>
      <p:sp>
        <p:nvSpPr>
          <p:cNvPr id="66" name="Google Shape;66;p1"/>
          <p:cNvSpPr/>
          <p:nvPr/>
        </p:nvSpPr>
        <p:spPr>
          <a:xfrm>
            <a:off x="1920325" y="3237025"/>
            <a:ext cx="338400" cy="91500"/>
          </a:xfrm>
          <a:prstGeom prst="rightArrow">
            <a:avLst>
              <a:gd fmla="val 17338" name="adj1"/>
              <a:gd fmla="val 133060" name="adj2"/>
            </a:avLst>
          </a:prstGeom>
          <a:solidFill>
            <a:srgbClr val="2F9E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highlight>
                  <a:srgbClr val="FFF2C0"/>
                </a:highlight>
                <a:latin typeface="Barlow"/>
                <a:ea typeface="Barlow"/>
                <a:cs typeface="Barlow"/>
                <a:sym typeface="Barlow"/>
              </a:rPr>
              <a:t>Y</a:t>
            </a:r>
            <a:endParaRPr b="1" i="0" sz="1000" u="none" cap="none" strike="noStrike">
              <a:solidFill>
                <a:srgbClr val="000000"/>
              </a:solidFill>
              <a:highlight>
                <a:srgbClr val="FFF2C0"/>
              </a:highlight>
              <a:latin typeface="Barlow"/>
              <a:ea typeface="Barlow"/>
              <a:cs typeface="Barlow"/>
              <a:sym typeface="Barlow"/>
            </a:endParaRPr>
          </a:p>
        </p:txBody>
      </p:sp>
      <p:sp>
        <p:nvSpPr>
          <p:cNvPr id="67" name="Google Shape;67;p1"/>
          <p:cNvSpPr txBox="1"/>
          <p:nvPr/>
        </p:nvSpPr>
        <p:spPr>
          <a:xfrm>
            <a:off x="2258686" y="3003238"/>
            <a:ext cx="1463100" cy="548700"/>
          </a:xfrm>
          <a:prstGeom prst="rect">
            <a:avLst/>
          </a:prstGeom>
          <a:solidFill>
            <a:srgbClr val="CFE8FF"/>
          </a:solidFill>
          <a:ln cap="flat" cmpd="sng" w="19050">
            <a:solidFill>
              <a:srgbClr val="5B9B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Barlow Medium"/>
                <a:ea typeface="Barlow Medium"/>
                <a:cs typeface="Barlow Medium"/>
                <a:sym typeface="Barlow Medium"/>
              </a:rPr>
              <a:t>PEP </a:t>
            </a:r>
            <a:r>
              <a:rPr b="1" i="0" lang="en" sz="900" u="none" cap="none" strike="noStrike">
                <a:solidFill>
                  <a:schemeClr val="dk1"/>
                </a:solidFill>
                <a:latin typeface="Barlow"/>
                <a:ea typeface="Barlow"/>
                <a:cs typeface="Barlow"/>
                <a:sym typeface="Barlow"/>
              </a:rPr>
              <a:t>not </a:t>
            </a:r>
            <a:r>
              <a:rPr b="0" i="0" lang="en" sz="900" u="none" cap="none" strike="noStrike">
                <a:solidFill>
                  <a:schemeClr val="dk1"/>
                </a:solidFill>
                <a:latin typeface="Barlow Medium"/>
                <a:ea typeface="Barlow Medium"/>
                <a:cs typeface="Barlow Medium"/>
                <a:sym typeface="Barlow Medium"/>
              </a:rPr>
              <a:t>indicated</a:t>
            </a:r>
            <a:endParaRPr b="0" i="1" sz="900" u="none" cap="none" strike="noStrike">
              <a:solidFill>
                <a:schemeClr val="dk1"/>
              </a:solidFill>
              <a:latin typeface="Barlow Medium"/>
              <a:ea typeface="Barlow Medium"/>
              <a:cs typeface="Barlow Medium"/>
              <a:sym typeface="Barlow Medium"/>
            </a:endParaRPr>
          </a:p>
        </p:txBody>
      </p:sp>
      <p:sp>
        <p:nvSpPr>
          <p:cNvPr id="68" name="Google Shape;68;p1"/>
          <p:cNvSpPr/>
          <p:nvPr/>
        </p:nvSpPr>
        <p:spPr>
          <a:xfrm>
            <a:off x="1143025" y="3559135"/>
            <a:ext cx="91500" cy="338400"/>
          </a:xfrm>
          <a:prstGeom prst="downArrow">
            <a:avLst>
              <a:gd fmla="val 18525" name="adj1"/>
              <a:gd fmla="val 133060" name="adj2"/>
            </a:avLst>
          </a:prstGeom>
          <a:solidFill>
            <a:srgbClr val="FE7070"/>
          </a:solidFill>
          <a:ln>
            <a:noFill/>
          </a:ln>
        </p:spPr>
        <p:txBody>
          <a:bodyPr anchorCtr="0" anchor="t"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000000"/>
                </a:solidFill>
                <a:highlight>
                  <a:srgbClr val="FFF2C0"/>
                </a:highlight>
                <a:latin typeface="Barlow"/>
                <a:ea typeface="Barlow"/>
                <a:cs typeface="Barlow"/>
                <a:sym typeface="Barlow"/>
              </a:rPr>
              <a:t>N</a:t>
            </a:r>
            <a:endParaRPr b="1" i="0" sz="1000" u="none" cap="none" strike="noStrike">
              <a:solidFill>
                <a:srgbClr val="000000"/>
              </a:solidFill>
              <a:highlight>
                <a:srgbClr val="FFF2C0"/>
              </a:highlight>
              <a:latin typeface="Barlow"/>
              <a:ea typeface="Barlow"/>
              <a:cs typeface="Barlow"/>
              <a:sym typeface="Barlow"/>
            </a:endParaRPr>
          </a:p>
        </p:txBody>
      </p:sp>
      <p:sp>
        <p:nvSpPr>
          <p:cNvPr id="69" name="Google Shape;69;p1"/>
          <p:cNvSpPr/>
          <p:nvPr/>
        </p:nvSpPr>
        <p:spPr>
          <a:xfrm>
            <a:off x="2258750" y="3889188"/>
            <a:ext cx="1463050" cy="548640"/>
          </a:xfrm>
          <a:prstGeom prst="flowChartPreparation">
            <a:avLst/>
          </a:prstGeom>
          <a:solidFill>
            <a:srgbClr val="CFF4D2"/>
          </a:solidFill>
          <a:ln cap="flat" cmpd="sng" w="19050">
            <a:solidFill>
              <a:srgbClr val="5DAE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Barlow Medium"/>
                <a:ea typeface="Barlow Medium"/>
                <a:cs typeface="Barlow Medium"/>
                <a:sym typeface="Barlow Medium"/>
              </a:rPr>
              <a:t>Patient </a:t>
            </a:r>
            <a:r>
              <a:rPr b="1" i="0" lang="en" sz="850" u="none" cap="none" strike="noStrike">
                <a:solidFill>
                  <a:schemeClr val="dk1"/>
                </a:solidFill>
                <a:latin typeface="Barlow"/>
                <a:ea typeface="Barlow"/>
                <a:cs typeface="Barlow"/>
                <a:sym typeface="Barlow"/>
              </a:rPr>
              <a:t>immunocompromised</a:t>
            </a:r>
            <a:r>
              <a:rPr b="1" baseline="30000" i="0" lang="en" sz="850" u="none" cap="none" strike="noStrike">
                <a:solidFill>
                  <a:schemeClr val="dk1"/>
                </a:solidFill>
                <a:latin typeface="Barlow"/>
                <a:ea typeface="Barlow"/>
                <a:cs typeface="Barlow"/>
                <a:sym typeface="Barlow"/>
              </a:rPr>
              <a:t>B</a:t>
            </a:r>
            <a:r>
              <a:rPr b="1" i="0" lang="en" sz="850" u="none" cap="none" strike="noStrike">
                <a:solidFill>
                  <a:schemeClr val="dk1"/>
                </a:solidFill>
                <a:latin typeface="Barlow"/>
                <a:ea typeface="Barlow"/>
                <a:cs typeface="Barlow"/>
                <a:sym typeface="Barlow"/>
              </a:rPr>
              <a:t>?</a:t>
            </a:r>
            <a:endParaRPr b="1" i="0" sz="100" u="none" cap="none" strike="noStrike">
              <a:solidFill>
                <a:schemeClr val="dk1"/>
              </a:solidFill>
              <a:latin typeface="Barlow"/>
              <a:ea typeface="Barlow"/>
              <a:cs typeface="Barlow"/>
              <a:sym typeface="Barlow"/>
            </a:endParaRPr>
          </a:p>
        </p:txBody>
      </p:sp>
      <p:sp>
        <p:nvSpPr>
          <p:cNvPr id="70" name="Google Shape;70;p1"/>
          <p:cNvSpPr/>
          <p:nvPr/>
        </p:nvSpPr>
        <p:spPr>
          <a:xfrm>
            <a:off x="2944550" y="4437835"/>
            <a:ext cx="91500" cy="338400"/>
          </a:xfrm>
          <a:prstGeom prst="downArrow">
            <a:avLst>
              <a:gd fmla="val 18525" name="adj1"/>
              <a:gd fmla="val 133060" name="adj2"/>
            </a:avLst>
          </a:prstGeom>
          <a:solidFill>
            <a:srgbClr val="FE7070"/>
          </a:solidFill>
          <a:ln>
            <a:noFill/>
          </a:ln>
        </p:spPr>
        <p:txBody>
          <a:bodyPr anchorCtr="0" anchor="t"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000000"/>
                </a:solidFill>
                <a:highlight>
                  <a:srgbClr val="FFF0B8"/>
                </a:highlight>
                <a:latin typeface="Barlow"/>
                <a:ea typeface="Barlow"/>
                <a:cs typeface="Barlow"/>
                <a:sym typeface="Barlow"/>
              </a:rPr>
              <a:t>N</a:t>
            </a:r>
            <a:endParaRPr b="1" i="0" sz="1000" u="none" cap="none" strike="noStrike">
              <a:solidFill>
                <a:srgbClr val="000000"/>
              </a:solidFill>
              <a:highlight>
                <a:srgbClr val="FFF0B8"/>
              </a:highlight>
              <a:latin typeface="Barlow"/>
              <a:ea typeface="Barlow"/>
              <a:cs typeface="Barlow"/>
              <a:sym typeface="Barlow"/>
            </a:endParaRPr>
          </a:p>
        </p:txBody>
      </p:sp>
      <p:sp>
        <p:nvSpPr>
          <p:cNvPr id="71" name="Google Shape;71;p1"/>
          <p:cNvSpPr/>
          <p:nvPr/>
        </p:nvSpPr>
        <p:spPr>
          <a:xfrm>
            <a:off x="1920325" y="1460025"/>
            <a:ext cx="338400" cy="91500"/>
          </a:xfrm>
          <a:prstGeom prst="rightArrow">
            <a:avLst>
              <a:gd fmla="val 17338" name="adj1"/>
              <a:gd fmla="val 133060" name="adj2"/>
            </a:avLst>
          </a:prstGeom>
          <a:solidFill>
            <a:srgbClr val="FE707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highlight>
                  <a:srgbClr val="FFF6D6"/>
                </a:highlight>
                <a:latin typeface="Barlow"/>
                <a:ea typeface="Barlow"/>
                <a:cs typeface="Barlow"/>
                <a:sym typeface="Barlow"/>
              </a:rPr>
              <a:t>N</a:t>
            </a:r>
            <a:endParaRPr b="1" i="0" sz="1000" u="none" cap="none" strike="noStrike">
              <a:solidFill>
                <a:srgbClr val="000000"/>
              </a:solidFill>
              <a:highlight>
                <a:srgbClr val="FFF6D6"/>
              </a:highlight>
              <a:latin typeface="Barlow"/>
              <a:ea typeface="Barlow"/>
              <a:cs typeface="Barlow"/>
              <a:sym typeface="Barlow"/>
            </a:endParaRPr>
          </a:p>
        </p:txBody>
      </p:sp>
      <p:sp>
        <p:nvSpPr>
          <p:cNvPr id="72" name="Google Shape;72;p1"/>
          <p:cNvSpPr txBox="1"/>
          <p:nvPr/>
        </p:nvSpPr>
        <p:spPr>
          <a:xfrm>
            <a:off x="4068784" y="3893886"/>
            <a:ext cx="1459200" cy="548700"/>
          </a:xfrm>
          <a:prstGeom prst="rect">
            <a:avLst/>
          </a:prstGeom>
          <a:solidFill>
            <a:srgbClr val="FFD8B5"/>
          </a:solidFill>
          <a:ln cap="flat" cmpd="sng" w="19050">
            <a:solidFill>
              <a:srgbClr val="F29F6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Barlow Medium"/>
                <a:ea typeface="Barlow Medium"/>
                <a:cs typeface="Barlow Medium"/>
                <a:sym typeface="Barlow Medium"/>
              </a:rPr>
              <a:t>Start </a:t>
            </a:r>
            <a:r>
              <a:rPr b="1" i="0" lang="en" sz="900" u="none" cap="none" strike="noStrike">
                <a:solidFill>
                  <a:schemeClr val="dk1"/>
                </a:solidFill>
                <a:latin typeface="Barlow"/>
                <a:ea typeface="Barlow"/>
                <a:cs typeface="Barlow"/>
                <a:sym typeface="Barlow"/>
              </a:rPr>
              <a:t>Primary PEP </a:t>
            </a:r>
            <a:r>
              <a:rPr b="0" i="1" lang="en" sz="900" u="none" cap="none" strike="noStrike">
                <a:solidFill>
                  <a:schemeClr val="dk1"/>
                </a:solidFill>
                <a:latin typeface="Barlow Medium"/>
                <a:ea typeface="Barlow Medium"/>
                <a:cs typeface="Barlow Medium"/>
                <a:sym typeface="Barlow Medium"/>
              </a:rPr>
              <a:t>(CCEEV)</a:t>
            </a:r>
            <a:r>
              <a:rPr b="0" i="0" lang="en" sz="900" u="none" cap="none" strike="noStrike">
                <a:solidFill>
                  <a:schemeClr val="dk1"/>
                </a:solidFill>
                <a:latin typeface="Barlow Medium"/>
                <a:ea typeface="Barlow Medium"/>
                <a:cs typeface="Barlow Medium"/>
                <a:sym typeface="Barlow Medium"/>
              </a:rPr>
              <a:t> immediately</a:t>
            </a:r>
            <a:endParaRPr b="0" i="1" sz="900" u="none" cap="none" strike="noStrike">
              <a:solidFill>
                <a:schemeClr val="dk1"/>
              </a:solidFill>
              <a:latin typeface="Barlow Medium"/>
              <a:ea typeface="Barlow Medium"/>
              <a:cs typeface="Barlow Medium"/>
              <a:sym typeface="Barlow Medium"/>
            </a:endParaRPr>
          </a:p>
        </p:txBody>
      </p:sp>
      <p:sp>
        <p:nvSpPr>
          <p:cNvPr id="73" name="Google Shape;73;p1"/>
          <p:cNvSpPr/>
          <p:nvPr/>
        </p:nvSpPr>
        <p:spPr>
          <a:xfrm>
            <a:off x="3716950" y="4117750"/>
            <a:ext cx="338400" cy="91500"/>
          </a:xfrm>
          <a:prstGeom prst="rightArrow">
            <a:avLst>
              <a:gd fmla="val 17338" name="adj1"/>
              <a:gd fmla="val 133060" name="adj2"/>
            </a:avLst>
          </a:prstGeom>
          <a:solidFill>
            <a:srgbClr val="2F9E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highlight>
                  <a:srgbClr val="FFF2C0"/>
                </a:highlight>
                <a:latin typeface="Barlow"/>
                <a:ea typeface="Barlow"/>
                <a:cs typeface="Barlow"/>
                <a:sym typeface="Barlow"/>
              </a:rPr>
              <a:t>Y</a:t>
            </a:r>
            <a:endParaRPr b="1" i="0" sz="1000" u="none" cap="none" strike="noStrike">
              <a:solidFill>
                <a:srgbClr val="000000"/>
              </a:solidFill>
              <a:highlight>
                <a:srgbClr val="FFF2C0"/>
              </a:highlight>
              <a:latin typeface="Barlow"/>
              <a:ea typeface="Barlow"/>
              <a:cs typeface="Barlow"/>
              <a:sym typeface="Barlow"/>
            </a:endParaRPr>
          </a:p>
        </p:txBody>
      </p:sp>
      <p:sp>
        <p:nvSpPr>
          <p:cNvPr id="74" name="Google Shape;74;p1"/>
          <p:cNvSpPr/>
          <p:nvPr/>
        </p:nvSpPr>
        <p:spPr>
          <a:xfrm>
            <a:off x="457250" y="3894350"/>
            <a:ext cx="1463050" cy="548640"/>
          </a:xfrm>
          <a:prstGeom prst="flowChartPreparation">
            <a:avLst/>
          </a:prstGeom>
          <a:solidFill>
            <a:srgbClr val="CFF4D2"/>
          </a:solidFill>
          <a:ln cap="flat" cmpd="sng" w="19050">
            <a:solidFill>
              <a:srgbClr val="5DAE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Barlow Medium"/>
                <a:ea typeface="Barlow Medium"/>
                <a:cs typeface="Barlow Medium"/>
                <a:sym typeface="Barlow Medium"/>
              </a:rPr>
              <a:t>Exposure under </a:t>
            </a:r>
            <a:r>
              <a:rPr b="1" i="0" lang="en" sz="900" u="none" cap="none" strike="noStrike">
                <a:solidFill>
                  <a:schemeClr val="dk1"/>
                </a:solidFill>
                <a:latin typeface="Barlow"/>
                <a:ea typeface="Barlow"/>
                <a:cs typeface="Barlow"/>
                <a:sym typeface="Barlow"/>
              </a:rPr>
              <a:t>category II</a:t>
            </a:r>
            <a:r>
              <a:rPr b="0" i="0" lang="en" sz="900" u="none" cap="none" strike="noStrike">
                <a:solidFill>
                  <a:schemeClr val="dk1"/>
                </a:solidFill>
                <a:latin typeface="Barlow Medium"/>
                <a:ea typeface="Barlow Medium"/>
                <a:cs typeface="Barlow Medium"/>
                <a:sym typeface="Barlow Medium"/>
              </a:rPr>
              <a:t>?</a:t>
            </a:r>
            <a:endParaRPr b="0" i="0" sz="1400" u="none" cap="none" strike="noStrike">
              <a:solidFill>
                <a:srgbClr val="000000"/>
              </a:solidFill>
              <a:latin typeface="Arial"/>
              <a:ea typeface="Arial"/>
              <a:cs typeface="Arial"/>
              <a:sym typeface="Arial"/>
            </a:endParaRPr>
          </a:p>
        </p:txBody>
      </p:sp>
      <p:sp>
        <p:nvSpPr>
          <p:cNvPr id="75" name="Google Shape;75;p1"/>
          <p:cNvSpPr/>
          <p:nvPr/>
        </p:nvSpPr>
        <p:spPr>
          <a:xfrm>
            <a:off x="1920325" y="4117763"/>
            <a:ext cx="338400" cy="91500"/>
          </a:xfrm>
          <a:prstGeom prst="rightArrow">
            <a:avLst>
              <a:gd fmla="val 17338" name="adj1"/>
              <a:gd fmla="val 133060" name="adj2"/>
            </a:avLst>
          </a:prstGeom>
          <a:solidFill>
            <a:srgbClr val="2F9E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highlight>
                  <a:srgbClr val="FFF2C0"/>
                </a:highlight>
                <a:latin typeface="Barlow"/>
                <a:ea typeface="Barlow"/>
                <a:cs typeface="Barlow"/>
                <a:sym typeface="Barlow"/>
              </a:rPr>
              <a:t>Y</a:t>
            </a:r>
            <a:endParaRPr b="1" i="0" sz="1000" u="none" cap="none" strike="noStrike">
              <a:solidFill>
                <a:srgbClr val="000000"/>
              </a:solidFill>
              <a:highlight>
                <a:srgbClr val="FFF2C0"/>
              </a:highlight>
              <a:latin typeface="Barlow"/>
              <a:ea typeface="Barlow"/>
              <a:cs typeface="Barlow"/>
              <a:sym typeface="Barlow"/>
            </a:endParaRPr>
          </a:p>
        </p:txBody>
      </p:sp>
      <p:sp>
        <p:nvSpPr>
          <p:cNvPr id="76" name="Google Shape;76;p1"/>
          <p:cNvSpPr/>
          <p:nvPr/>
        </p:nvSpPr>
        <p:spPr>
          <a:xfrm>
            <a:off x="457250" y="7443125"/>
            <a:ext cx="1463050" cy="548640"/>
          </a:xfrm>
          <a:prstGeom prst="flowChartPreparation">
            <a:avLst/>
          </a:prstGeom>
          <a:solidFill>
            <a:srgbClr val="CFF4D2"/>
          </a:solidFill>
          <a:ln cap="flat" cmpd="sng" w="19050">
            <a:solidFill>
              <a:srgbClr val="5DAE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Barlow Medium"/>
                <a:ea typeface="Barlow Medium"/>
                <a:cs typeface="Barlow Medium"/>
                <a:sym typeface="Barlow Medium"/>
              </a:rPr>
              <a:t>Exposure under </a:t>
            </a:r>
            <a:r>
              <a:rPr b="1" i="0" lang="en" sz="900" u="none" cap="none" strike="noStrike">
                <a:solidFill>
                  <a:schemeClr val="dk1"/>
                </a:solidFill>
                <a:latin typeface="Barlow"/>
                <a:ea typeface="Barlow"/>
                <a:cs typeface="Barlow"/>
                <a:sym typeface="Barlow"/>
              </a:rPr>
              <a:t>category III</a:t>
            </a:r>
            <a:r>
              <a:rPr b="0" i="0" lang="en" sz="900" u="none" cap="none" strike="noStrike">
                <a:solidFill>
                  <a:schemeClr val="dk1"/>
                </a:solidFill>
                <a:latin typeface="Barlow Medium"/>
                <a:ea typeface="Barlow Medium"/>
                <a:cs typeface="Barlow Medium"/>
                <a:sym typeface="Barlow Medium"/>
              </a:rPr>
              <a:t>?</a:t>
            </a:r>
            <a:endParaRPr b="0" i="0" sz="1400" u="none" cap="none" strike="noStrike">
              <a:solidFill>
                <a:srgbClr val="000000"/>
              </a:solidFill>
              <a:latin typeface="Arial"/>
              <a:ea typeface="Arial"/>
              <a:cs typeface="Arial"/>
              <a:sym typeface="Arial"/>
            </a:endParaRPr>
          </a:p>
        </p:txBody>
      </p:sp>
      <p:sp>
        <p:nvSpPr>
          <p:cNvPr id="77" name="Google Shape;77;p1"/>
          <p:cNvSpPr/>
          <p:nvPr/>
        </p:nvSpPr>
        <p:spPr>
          <a:xfrm>
            <a:off x="1920250" y="7663713"/>
            <a:ext cx="338400" cy="91500"/>
          </a:xfrm>
          <a:prstGeom prst="rightArrow">
            <a:avLst>
              <a:gd fmla="val 17338" name="adj1"/>
              <a:gd fmla="val 133060" name="adj2"/>
            </a:avLst>
          </a:prstGeom>
          <a:solidFill>
            <a:srgbClr val="2F9E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highlight>
                  <a:srgbClr val="FFEBA9"/>
                </a:highlight>
                <a:latin typeface="Barlow"/>
                <a:ea typeface="Barlow"/>
                <a:cs typeface="Barlow"/>
                <a:sym typeface="Barlow"/>
              </a:rPr>
              <a:t>Y</a:t>
            </a:r>
            <a:endParaRPr b="1" i="0" sz="1000" u="none" cap="none" strike="noStrike">
              <a:solidFill>
                <a:srgbClr val="000000"/>
              </a:solidFill>
              <a:highlight>
                <a:srgbClr val="FFEBA9"/>
              </a:highlight>
              <a:latin typeface="Barlow"/>
              <a:ea typeface="Barlow"/>
              <a:cs typeface="Barlow"/>
              <a:sym typeface="Barlow"/>
            </a:endParaRPr>
          </a:p>
        </p:txBody>
      </p:sp>
      <p:sp>
        <p:nvSpPr>
          <p:cNvPr id="78" name="Google Shape;78;p1"/>
          <p:cNvSpPr/>
          <p:nvPr/>
        </p:nvSpPr>
        <p:spPr>
          <a:xfrm>
            <a:off x="2260688" y="7435163"/>
            <a:ext cx="1463050" cy="548640"/>
          </a:xfrm>
          <a:prstGeom prst="flowChartPreparation">
            <a:avLst/>
          </a:prstGeom>
          <a:solidFill>
            <a:srgbClr val="CFF4D2"/>
          </a:solidFill>
          <a:ln cap="flat" cmpd="sng" w="19050">
            <a:solidFill>
              <a:srgbClr val="5DAE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Barlow Medium"/>
                <a:ea typeface="Barlow Medium"/>
                <a:cs typeface="Barlow Medium"/>
                <a:sym typeface="Barlow Medium"/>
              </a:rPr>
              <a:t>Patient </a:t>
            </a:r>
            <a:r>
              <a:rPr b="1" i="0" lang="en" sz="850" u="none" cap="none" strike="noStrike">
                <a:solidFill>
                  <a:schemeClr val="dk1"/>
                </a:solidFill>
                <a:latin typeface="Barlow"/>
                <a:ea typeface="Barlow"/>
                <a:cs typeface="Barlow"/>
                <a:sym typeface="Barlow"/>
              </a:rPr>
              <a:t>immunocompromised</a:t>
            </a:r>
            <a:r>
              <a:rPr b="1" baseline="30000" i="0" lang="en" sz="850" u="none" cap="none" strike="noStrike">
                <a:solidFill>
                  <a:schemeClr val="dk1"/>
                </a:solidFill>
                <a:latin typeface="Barlow"/>
                <a:ea typeface="Barlow"/>
                <a:cs typeface="Barlow"/>
                <a:sym typeface="Barlow"/>
              </a:rPr>
              <a:t>B</a:t>
            </a:r>
            <a:r>
              <a:rPr b="1" i="0" lang="en" sz="850" u="none" cap="none" strike="noStrike">
                <a:solidFill>
                  <a:schemeClr val="dk1"/>
                </a:solidFill>
                <a:latin typeface="Barlow"/>
                <a:ea typeface="Barlow"/>
                <a:cs typeface="Barlow"/>
                <a:sym typeface="Barlow"/>
              </a:rPr>
              <a:t>?</a:t>
            </a:r>
            <a:endParaRPr b="1" i="0" sz="100" u="none" cap="none" strike="noStrike">
              <a:solidFill>
                <a:schemeClr val="dk1"/>
              </a:solidFill>
              <a:latin typeface="Barlow"/>
              <a:ea typeface="Barlow"/>
              <a:cs typeface="Barlow"/>
              <a:sym typeface="Barlow"/>
            </a:endParaRPr>
          </a:p>
        </p:txBody>
      </p:sp>
      <p:sp>
        <p:nvSpPr>
          <p:cNvPr id="79" name="Google Shape;79;p1"/>
          <p:cNvSpPr txBox="1"/>
          <p:nvPr/>
        </p:nvSpPr>
        <p:spPr>
          <a:xfrm>
            <a:off x="5863272" y="8326748"/>
            <a:ext cx="1459200" cy="548700"/>
          </a:xfrm>
          <a:prstGeom prst="rect">
            <a:avLst/>
          </a:prstGeom>
          <a:solidFill>
            <a:srgbClr val="FFE082"/>
          </a:solidFill>
          <a:ln cap="flat" cmpd="sng" w="19050">
            <a:solidFill>
              <a:srgbClr val="F2B6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Barlow Medium"/>
                <a:ea typeface="Barlow Medium"/>
                <a:cs typeface="Barlow Medium"/>
                <a:sym typeface="Barlow Medium"/>
              </a:rPr>
              <a:t>Start </a:t>
            </a:r>
            <a:r>
              <a:rPr b="1" i="0" lang="en" sz="900" u="none" cap="none" strike="noStrike">
                <a:solidFill>
                  <a:schemeClr val="dk1"/>
                </a:solidFill>
                <a:latin typeface="Barlow"/>
                <a:ea typeface="Barlow"/>
                <a:cs typeface="Barlow"/>
                <a:sym typeface="Barlow"/>
              </a:rPr>
              <a:t>Booster PEP </a:t>
            </a:r>
            <a:r>
              <a:rPr b="0" i="1" lang="en" sz="900" u="none" cap="none" strike="noStrike">
                <a:solidFill>
                  <a:schemeClr val="dk1"/>
                </a:solidFill>
                <a:latin typeface="Barlow Medium"/>
                <a:ea typeface="Barlow Medium"/>
                <a:cs typeface="Barlow Medium"/>
                <a:sym typeface="Barlow Medium"/>
              </a:rPr>
              <a:t>(CCEEV) </a:t>
            </a:r>
            <a:r>
              <a:rPr b="0" i="0" lang="en" sz="900" u="none" cap="none" strike="noStrike">
                <a:solidFill>
                  <a:schemeClr val="dk1"/>
                </a:solidFill>
                <a:latin typeface="Barlow Medium"/>
                <a:ea typeface="Barlow Medium"/>
                <a:cs typeface="Barlow Medium"/>
                <a:sym typeface="Barlow Medium"/>
              </a:rPr>
              <a:t>immediately</a:t>
            </a:r>
            <a:endParaRPr b="0" i="0" sz="900" u="none" cap="none" strike="noStrike">
              <a:solidFill>
                <a:schemeClr val="dk1"/>
              </a:solidFill>
              <a:latin typeface="Barlow Medium"/>
              <a:ea typeface="Barlow Medium"/>
              <a:cs typeface="Barlow Medium"/>
              <a:sym typeface="Barlow Medium"/>
            </a:endParaRPr>
          </a:p>
        </p:txBody>
      </p:sp>
      <p:sp>
        <p:nvSpPr>
          <p:cNvPr id="80" name="Google Shape;80;p1"/>
          <p:cNvSpPr/>
          <p:nvPr/>
        </p:nvSpPr>
        <p:spPr>
          <a:xfrm>
            <a:off x="2946488" y="7983810"/>
            <a:ext cx="91500" cy="338400"/>
          </a:xfrm>
          <a:prstGeom prst="downArrow">
            <a:avLst>
              <a:gd fmla="val 18525" name="adj1"/>
              <a:gd fmla="val 133060" name="adj2"/>
            </a:avLst>
          </a:prstGeom>
          <a:solidFill>
            <a:srgbClr val="FE7070"/>
          </a:solidFill>
          <a:ln>
            <a:noFill/>
          </a:ln>
        </p:spPr>
        <p:txBody>
          <a:bodyPr anchorCtr="0" anchor="t"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000000"/>
                </a:solidFill>
                <a:highlight>
                  <a:srgbClr val="FFEBA9"/>
                </a:highlight>
                <a:latin typeface="Barlow"/>
                <a:ea typeface="Barlow"/>
                <a:cs typeface="Barlow"/>
                <a:sym typeface="Barlow"/>
              </a:rPr>
              <a:t>N</a:t>
            </a:r>
            <a:endParaRPr b="1" i="0" sz="1000" u="none" cap="none" strike="noStrike">
              <a:solidFill>
                <a:srgbClr val="000000"/>
              </a:solidFill>
              <a:highlight>
                <a:srgbClr val="FFEBA9"/>
              </a:highlight>
              <a:latin typeface="Barlow"/>
              <a:ea typeface="Barlow"/>
              <a:cs typeface="Barlow"/>
              <a:sym typeface="Barlow"/>
            </a:endParaRPr>
          </a:p>
        </p:txBody>
      </p:sp>
      <p:sp>
        <p:nvSpPr>
          <p:cNvPr id="81" name="Google Shape;81;p1"/>
          <p:cNvSpPr/>
          <p:nvPr/>
        </p:nvSpPr>
        <p:spPr>
          <a:xfrm>
            <a:off x="2260713" y="8321050"/>
            <a:ext cx="1463050" cy="548640"/>
          </a:xfrm>
          <a:prstGeom prst="flowChartPreparation">
            <a:avLst/>
          </a:prstGeom>
          <a:solidFill>
            <a:srgbClr val="CFF4D2"/>
          </a:solidFill>
          <a:ln cap="flat" cmpd="sng" w="19050">
            <a:solidFill>
              <a:srgbClr val="5DAE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Barlow Medium"/>
                <a:ea typeface="Barlow Medium"/>
                <a:cs typeface="Barlow Medium"/>
                <a:sym typeface="Barlow Medium"/>
              </a:rPr>
              <a:t>Patient </a:t>
            </a:r>
            <a:r>
              <a:rPr b="1" i="0" lang="en" sz="850" u="none" cap="none" strike="noStrike">
                <a:solidFill>
                  <a:schemeClr val="dk1"/>
                </a:solidFill>
                <a:latin typeface="Barlow"/>
                <a:ea typeface="Barlow"/>
                <a:cs typeface="Barlow"/>
                <a:sym typeface="Barlow"/>
              </a:rPr>
              <a:t>previously-immunized</a:t>
            </a:r>
            <a:r>
              <a:rPr b="1" baseline="30000" i="0" lang="en" sz="850" u="none" cap="none" strike="noStrike">
                <a:solidFill>
                  <a:schemeClr val="dk1"/>
                </a:solidFill>
                <a:latin typeface="Barlow"/>
                <a:ea typeface="Barlow"/>
                <a:cs typeface="Barlow"/>
                <a:sym typeface="Barlow"/>
              </a:rPr>
              <a:t>C</a:t>
            </a:r>
            <a:r>
              <a:rPr b="0" i="0" lang="en" sz="850" u="none" cap="none" strike="noStrike">
                <a:solidFill>
                  <a:schemeClr val="dk1"/>
                </a:solidFill>
                <a:latin typeface="Barlow Medium"/>
                <a:ea typeface="Barlow Medium"/>
                <a:cs typeface="Barlow Medium"/>
                <a:sym typeface="Barlow Medium"/>
              </a:rPr>
              <a:t>?</a:t>
            </a:r>
            <a:endParaRPr b="1" i="0" sz="100" u="none" cap="none" strike="noStrike">
              <a:solidFill>
                <a:schemeClr val="dk1"/>
              </a:solidFill>
              <a:latin typeface="Barlow"/>
              <a:ea typeface="Barlow"/>
              <a:cs typeface="Barlow"/>
              <a:sym typeface="Barlow"/>
            </a:endParaRPr>
          </a:p>
        </p:txBody>
      </p:sp>
      <p:sp>
        <p:nvSpPr>
          <p:cNvPr id="82" name="Google Shape;82;p1"/>
          <p:cNvSpPr/>
          <p:nvPr/>
        </p:nvSpPr>
        <p:spPr>
          <a:xfrm>
            <a:off x="4061975" y="8326338"/>
            <a:ext cx="1463050" cy="548640"/>
          </a:xfrm>
          <a:prstGeom prst="flowChartPreparation">
            <a:avLst/>
          </a:prstGeom>
          <a:solidFill>
            <a:srgbClr val="CFF4D2"/>
          </a:solidFill>
          <a:ln cap="flat" cmpd="sng" w="19050">
            <a:solidFill>
              <a:srgbClr val="5DAE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Barlow Medium"/>
                <a:ea typeface="Barlow Medium"/>
                <a:cs typeface="Barlow Medium"/>
                <a:sym typeface="Barlow Medium"/>
              </a:rPr>
              <a:t>Any </a:t>
            </a:r>
            <a:r>
              <a:rPr b="1" i="0" lang="en" sz="900" u="none" cap="none" strike="noStrike">
                <a:solidFill>
                  <a:schemeClr val="dk1"/>
                </a:solidFill>
                <a:latin typeface="Barlow"/>
                <a:ea typeface="Barlow"/>
                <a:cs typeface="Barlow"/>
                <a:sym typeface="Barlow"/>
              </a:rPr>
              <a:t>high-risk criteria</a:t>
            </a:r>
            <a:r>
              <a:rPr b="1" baseline="30000" i="0" lang="en" sz="850" u="none" cap="none" strike="noStrike">
                <a:solidFill>
                  <a:schemeClr val="dk1"/>
                </a:solidFill>
                <a:latin typeface="Barlow"/>
                <a:ea typeface="Barlow"/>
                <a:cs typeface="Barlow"/>
                <a:sym typeface="Barlow"/>
              </a:rPr>
              <a:t>D</a:t>
            </a:r>
            <a:r>
              <a:rPr b="1" i="0" lang="en" sz="900" u="none" cap="none" strike="noStrike">
                <a:solidFill>
                  <a:schemeClr val="dk1"/>
                </a:solidFill>
                <a:latin typeface="Barlow"/>
                <a:ea typeface="Barlow"/>
                <a:cs typeface="Barlow"/>
                <a:sym typeface="Barlow"/>
              </a:rPr>
              <a:t> </a:t>
            </a:r>
            <a:r>
              <a:rPr b="0" i="0" lang="en" sz="900" u="none" cap="none" strike="noStrike">
                <a:solidFill>
                  <a:schemeClr val="dk1"/>
                </a:solidFill>
                <a:latin typeface="Barlow Medium"/>
                <a:ea typeface="Barlow Medium"/>
                <a:cs typeface="Barlow Medium"/>
                <a:sym typeface="Barlow Medium"/>
              </a:rPr>
              <a:t>present?</a:t>
            </a:r>
            <a:endParaRPr b="0" i="0" sz="850" u="none" cap="none" strike="noStrike">
              <a:solidFill>
                <a:srgbClr val="000000"/>
              </a:solidFill>
              <a:latin typeface="Arial"/>
              <a:ea typeface="Arial"/>
              <a:cs typeface="Arial"/>
              <a:sym typeface="Arial"/>
            </a:endParaRPr>
          </a:p>
        </p:txBody>
      </p:sp>
      <p:sp>
        <p:nvSpPr>
          <p:cNvPr id="83" name="Google Shape;83;p1"/>
          <p:cNvSpPr/>
          <p:nvPr/>
        </p:nvSpPr>
        <p:spPr>
          <a:xfrm>
            <a:off x="3718938" y="8549625"/>
            <a:ext cx="338400" cy="91500"/>
          </a:xfrm>
          <a:prstGeom prst="rightArrow">
            <a:avLst>
              <a:gd fmla="val 17338" name="adj1"/>
              <a:gd fmla="val 133060" name="adj2"/>
            </a:avLst>
          </a:prstGeom>
          <a:solidFill>
            <a:srgbClr val="2F9E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highlight>
                  <a:srgbClr val="FFEBA9"/>
                </a:highlight>
                <a:latin typeface="Barlow"/>
                <a:ea typeface="Barlow"/>
                <a:cs typeface="Barlow"/>
                <a:sym typeface="Barlow"/>
              </a:rPr>
              <a:t>Y</a:t>
            </a:r>
            <a:endParaRPr b="1" i="0" sz="1000" u="none" cap="none" strike="noStrike">
              <a:solidFill>
                <a:srgbClr val="000000"/>
              </a:solidFill>
              <a:highlight>
                <a:srgbClr val="FFEBA9"/>
              </a:highlight>
              <a:latin typeface="Barlow"/>
              <a:ea typeface="Barlow"/>
              <a:cs typeface="Barlow"/>
              <a:sym typeface="Barlow"/>
            </a:endParaRPr>
          </a:p>
        </p:txBody>
      </p:sp>
      <p:sp>
        <p:nvSpPr>
          <p:cNvPr id="84" name="Google Shape;84;p1"/>
          <p:cNvSpPr/>
          <p:nvPr/>
        </p:nvSpPr>
        <p:spPr>
          <a:xfrm>
            <a:off x="5525213" y="8555163"/>
            <a:ext cx="338400" cy="91500"/>
          </a:xfrm>
          <a:prstGeom prst="rightArrow">
            <a:avLst>
              <a:gd fmla="val 17338" name="adj1"/>
              <a:gd fmla="val 133060" name="adj2"/>
            </a:avLst>
          </a:prstGeom>
          <a:solidFill>
            <a:srgbClr val="2F9E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highlight>
                  <a:srgbClr val="FFEBA9"/>
                </a:highlight>
                <a:latin typeface="Barlow"/>
                <a:ea typeface="Barlow"/>
                <a:cs typeface="Barlow"/>
                <a:sym typeface="Barlow"/>
              </a:rPr>
              <a:t>Y</a:t>
            </a:r>
            <a:endParaRPr b="1" i="0" sz="1000" u="none" cap="none" strike="noStrike">
              <a:solidFill>
                <a:srgbClr val="000000"/>
              </a:solidFill>
              <a:highlight>
                <a:srgbClr val="FFEBA9"/>
              </a:highlight>
              <a:latin typeface="Barlow"/>
              <a:ea typeface="Barlow"/>
              <a:cs typeface="Barlow"/>
              <a:sym typeface="Barlow"/>
            </a:endParaRPr>
          </a:p>
        </p:txBody>
      </p:sp>
      <p:sp>
        <p:nvSpPr>
          <p:cNvPr id="85" name="Google Shape;85;p1"/>
          <p:cNvSpPr/>
          <p:nvPr/>
        </p:nvSpPr>
        <p:spPr>
          <a:xfrm>
            <a:off x="2946488" y="8870335"/>
            <a:ext cx="91500" cy="338400"/>
          </a:xfrm>
          <a:prstGeom prst="downArrow">
            <a:avLst>
              <a:gd fmla="val 18525" name="adj1"/>
              <a:gd fmla="val 133060" name="adj2"/>
            </a:avLst>
          </a:prstGeom>
          <a:solidFill>
            <a:srgbClr val="FE7070"/>
          </a:solidFill>
          <a:ln>
            <a:noFill/>
          </a:ln>
        </p:spPr>
        <p:txBody>
          <a:bodyPr anchorCtr="0" anchor="t"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000000"/>
                </a:solidFill>
                <a:highlight>
                  <a:srgbClr val="FFEBA9"/>
                </a:highlight>
                <a:latin typeface="Barlow"/>
                <a:ea typeface="Barlow"/>
                <a:cs typeface="Barlow"/>
                <a:sym typeface="Barlow"/>
              </a:rPr>
              <a:t>N</a:t>
            </a:r>
            <a:endParaRPr b="1" i="0" sz="1000" u="none" cap="none" strike="noStrike">
              <a:solidFill>
                <a:srgbClr val="000000"/>
              </a:solidFill>
              <a:highlight>
                <a:srgbClr val="FFEBA9"/>
              </a:highlight>
              <a:latin typeface="Barlow"/>
              <a:ea typeface="Barlow"/>
              <a:cs typeface="Barlow"/>
              <a:sym typeface="Barlow"/>
            </a:endParaRPr>
          </a:p>
        </p:txBody>
      </p:sp>
      <p:sp>
        <p:nvSpPr>
          <p:cNvPr id="86" name="Google Shape;86;p1"/>
          <p:cNvSpPr txBox="1"/>
          <p:nvPr/>
        </p:nvSpPr>
        <p:spPr>
          <a:xfrm>
            <a:off x="4062274" y="9218188"/>
            <a:ext cx="1463100" cy="548700"/>
          </a:xfrm>
          <a:prstGeom prst="rect">
            <a:avLst/>
          </a:prstGeom>
          <a:solidFill>
            <a:srgbClr val="CFE8FF"/>
          </a:solidFill>
          <a:ln cap="flat" cmpd="sng" w="19050">
            <a:solidFill>
              <a:srgbClr val="5B9B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Barlow Medium"/>
                <a:ea typeface="Barlow Medium"/>
                <a:cs typeface="Barlow Medium"/>
                <a:sym typeface="Barlow Medium"/>
              </a:rPr>
              <a:t>PEP </a:t>
            </a:r>
            <a:r>
              <a:rPr b="1" i="0" lang="en" sz="900" u="none" cap="none" strike="noStrike">
                <a:solidFill>
                  <a:schemeClr val="dk1"/>
                </a:solidFill>
                <a:latin typeface="Barlow"/>
                <a:ea typeface="Barlow"/>
                <a:cs typeface="Barlow"/>
                <a:sym typeface="Barlow"/>
              </a:rPr>
              <a:t>not </a:t>
            </a:r>
            <a:r>
              <a:rPr b="0" i="0" lang="en" sz="900" u="none" cap="none" strike="noStrike">
                <a:solidFill>
                  <a:schemeClr val="dk1"/>
                </a:solidFill>
                <a:latin typeface="Barlow Medium"/>
                <a:ea typeface="Barlow Medium"/>
                <a:cs typeface="Barlow Medium"/>
                <a:sym typeface="Barlow Medium"/>
              </a:rPr>
              <a:t>indicated</a:t>
            </a:r>
            <a:endParaRPr b="0" i="1" sz="900" u="none" cap="none" strike="noStrike">
              <a:solidFill>
                <a:schemeClr val="dk1"/>
              </a:solidFill>
              <a:latin typeface="Barlow Medium"/>
              <a:ea typeface="Barlow Medium"/>
              <a:cs typeface="Barlow Medium"/>
              <a:sym typeface="Barlow Medium"/>
            </a:endParaRPr>
          </a:p>
        </p:txBody>
      </p:sp>
      <p:sp>
        <p:nvSpPr>
          <p:cNvPr id="87" name="Google Shape;87;p1"/>
          <p:cNvSpPr txBox="1"/>
          <p:nvPr/>
        </p:nvSpPr>
        <p:spPr>
          <a:xfrm>
            <a:off x="2262647" y="9212786"/>
            <a:ext cx="1459200" cy="548700"/>
          </a:xfrm>
          <a:prstGeom prst="rect">
            <a:avLst/>
          </a:prstGeom>
          <a:solidFill>
            <a:srgbClr val="FFD8B5"/>
          </a:solidFill>
          <a:ln cap="flat" cmpd="sng" w="19050">
            <a:solidFill>
              <a:srgbClr val="F29F6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Barlow Medium"/>
                <a:ea typeface="Barlow Medium"/>
                <a:cs typeface="Barlow Medium"/>
                <a:sym typeface="Barlow Medium"/>
              </a:rPr>
              <a:t>Start </a:t>
            </a:r>
            <a:r>
              <a:rPr b="1" i="0" lang="en" sz="900" u="none" cap="none" strike="noStrike">
                <a:solidFill>
                  <a:schemeClr val="dk1"/>
                </a:solidFill>
                <a:latin typeface="Barlow"/>
                <a:ea typeface="Barlow"/>
                <a:cs typeface="Barlow"/>
                <a:sym typeface="Barlow"/>
              </a:rPr>
              <a:t>Primary PEP </a:t>
            </a:r>
            <a:r>
              <a:rPr b="0" i="1" lang="en" sz="900" u="none" cap="none" strike="noStrike">
                <a:solidFill>
                  <a:schemeClr val="dk1"/>
                </a:solidFill>
                <a:latin typeface="Barlow Medium"/>
                <a:ea typeface="Barlow Medium"/>
                <a:cs typeface="Barlow Medium"/>
                <a:sym typeface="Barlow Medium"/>
              </a:rPr>
              <a:t>(CCEEV+RIG)</a:t>
            </a:r>
            <a:r>
              <a:rPr b="0" i="0" lang="en" sz="900" u="none" cap="none" strike="noStrike">
                <a:solidFill>
                  <a:schemeClr val="dk1"/>
                </a:solidFill>
                <a:latin typeface="Barlow Medium"/>
                <a:ea typeface="Barlow Medium"/>
                <a:cs typeface="Barlow Medium"/>
                <a:sym typeface="Barlow Medium"/>
              </a:rPr>
              <a:t> immediately</a:t>
            </a:r>
            <a:endParaRPr b="0" i="0" sz="900" u="none" cap="none" strike="noStrike">
              <a:solidFill>
                <a:schemeClr val="dk1"/>
              </a:solidFill>
              <a:latin typeface="Barlow Medium"/>
              <a:ea typeface="Barlow Medium"/>
              <a:cs typeface="Barlow Medium"/>
              <a:sym typeface="Barlow Medium"/>
            </a:endParaRPr>
          </a:p>
        </p:txBody>
      </p:sp>
      <p:sp>
        <p:nvSpPr>
          <p:cNvPr id="88" name="Google Shape;88;p1"/>
          <p:cNvSpPr txBox="1"/>
          <p:nvPr/>
        </p:nvSpPr>
        <p:spPr>
          <a:xfrm>
            <a:off x="4070722" y="7439861"/>
            <a:ext cx="1459200" cy="548700"/>
          </a:xfrm>
          <a:prstGeom prst="rect">
            <a:avLst/>
          </a:prstGeom>
          <a:solidFill>
            <a:srgbClr val="FFD8B5"/>
          </a:solidFill>
          <a:ln cap="flat" cmpd="sng" w="19050">
            <a:solidFill>
              <a:srgbClr val="F29F6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Barlow Medium"/>
                <a:ea typeface="Barlow Medium"/>
                <a:cs typeface="Barlow Medium"/>
                <a:sym typeface="Barlow Medium"/>
              </a:rPr>
              <a:t>Start </a:t>
            </a:r>
            <a:r>
              <a:rPr b="1" i="0" lang="en" sz="900" u="none" cap="none" strike="noStrike">
                <a:solidFill>
                  <a:schemeClr val="dk1"/>
                </a:solidFill>
                <a:latin typeface="Barlow"/>
                <a:ea typeface="Barlow"/>
                <a:cs typeface="Barlow"/>
                <a:sym typeface="Barlow"/>
              </a:rPr>
              <a:t>Primary PEP </a:t>
            </a:r>
            <a:r>
              <a:rPr b="0" i="1" lang="en" sz="900" u="none" cap="none" strike="noStrike">
                <a:solidFill>
                  <a:schemeClr val="dk1"/>
                </a:solidFill>
                <a:latin typeface="Barlow Medium"/>
                <a:ea typeface="Barlow Medium"/>
                <a:cs typeface="Barlow Medium"/>
                <a:sym typeface="Barlow Medium"/>
              </a:rPr>
              <a:t>(CCEEV+RIG)</a:t>
            </a:r>
            <a:r>
              <a:rPr b="0" i="0" lang="en" sz="900" u="none" cap="none" strike="noStrike">
                <a:solidFill>
                  <a:schemeClr val="dk1"/>
                </a:solidFill>
                <a:latin typeface="Barlow Medium"/>
                <a:ea typeface="Barlow Medium"/>
                <a:cs typeface="Barlow Medium"/>
                <a:sym typeface="Barlow Medium"/>
              </a:rPr>
              <a:t> immediately</a:t>
            </a:r>
            <a:endParaRPr b="0" i="1" sz="900" u="none" cap="none" strike="noStrike">
              <a:solidFill>
                <a:schemeClr val="dk1"/>
              </a:solidFill>
              <a:latin typeface="Barlow Medium"/>
              <a:ea typeface="Barlow Medium"/>
              <a:cs typeface="Barlow Medium"/>
              <a:sym typeface="Barlow Medium"/>
            </a:endParaRPr>
          </a:p>
        </p:txBody>
      </p:sp>
      <p:sp>
        <p:nvSpPr>
          <p:cNvPr id="89" name="Google Shape;89;p1"/>
          <p:cNvSpPr/>
          <p:nvPr/>
        </p:nvSpPr>
        <p:spPr>
          <a:xfrm>
            <a:off x="3718888" y="7663725"/>
            <a:ext cx="338400" cy="91500"/>
          </a:xfrm>
          <a:prstGeom prst="rightArrow">
            <a:avLst>
              <a:gd fmla="val 17338" name="adj1"/>
              <a:gd fmla="val 133060" name="adj2"/>
            </a:avLst>
          </a:prstGeom>
          <a:solidFill>
            <a:srgbClr val="2F9E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highlight>
                  <a:srgbClr val="FFEBA9"/>
                </a:highlight>
                <a:latin typeface="Barlow"/>
                <a:ea typeface="Barlow"/>
                <a:cs typeface="Barlow"/>
                <a:sym typeface="Barlow"/>
              </a:rPr>
              <a:t>Y</a:t>
            </a:r>
            <a:endParaRPr b="1" i="0" sz="1000" u="none" cap="none" strike="noStrike">
              <a:solidFill>
                <a:srgbClr val="000000"/>
              </a:solidFill>
              <a:highlight>
                <a:srgbClr val="FFEBA9"/>
              </a:highlight>
              <a:latin typeface="Barlow"/>
              <a:ea typeface="Barlow"/>
              <a:cs typeface="Barlow"/>
              <a:sym typeface="Barlow"/>
            </a:endParaRPr>
          </a:p>
        </p:txBody>
      </p:sp>
      <p:sp>
        <p:nvSpPr>
          <p:cNvPr id="90" name="Google Shape;90;p1"/>
          <p:cNvSpPr/>
          <p:nvPr/>
        </p:nvSpPr>
        <p:spPr>
          <a:xfrm>
            <a:off x="4754563" y="8875460"/>
            <a:ext cx="91500" cy="338400"/>
          </a:xfrm>
          <a:prstGeom prst="downArrow">
            <a:avLst>
              <a:gd fmla="val 18525" name="adj1"/>
              <a:gd fmla="val 133060" name="adj2"/>
            </a:avLst>
          </a:prstGeom>
          <a:solidFill>
            <a:srgbClr val="FE7070"/>
          </a:solidFill>
          <a:ln>
            <a:noFill/>
          </a:ln>
        </p:spPr>
        <p:txBody>
          <a:bodyPr anchorCtr="0" anchor="t"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000000"/>
                </a:solidFill>
                <a:highlight>
                  <a:srgbClr val="FFEBA9"/>
                </a:highlight>
                <a:latin typeface="Barlow"/>
                <a:ea typeface="Barlow"/>
                <a:cs typeface="Barlow"/>
                <a:sym typeface="Barlow"/>
              </a:rPr>
              <a:t>N</a:t>
            </a:r>
            <a:endParaRPr b="1" i="0" sz="1000" u="none" cap="none" strike="noStrike">
              <a:solidFill>
                <a:srgbClr val="000000"/>
              </a:solidFill>
              <a:highlight>
                <a:srgbClr val="FFEBA9"/>
              </a:highlight>
              <a:latin typeface="Barlow"/>
              <a:ea typeface="Barlow"/>
              <a:cs typeface="Barlow"/>
              <a:sym typeface="Barlow"/>
            </a:endParaRPr>
          </a:p>
        </p:txBody>
      </p:sp>
      <p:cxnSp>
        <p:nvCxnSpPr>
          <p:cNvPr id="91" name="Google Shape;91;p1"/>
          <p:cNvCxnSpPr>
            <a:stCxn id="62" idx="2"/>
          </p:cNvCxnSpPr>
          <p:nvPr/>
        </p:nvCxnSpPr>
        <p:spPr>
          <a:xfrm rot="5400000">
            <a:off x="2031175" y="1841303"/>
            <a:ext cx="134400" cy="1783800"/>
          </a:xfrm>
          <a:prstGeom prst="bentConnector2">
            <a:avLst/>
          </a:prstGeom>
          <a:noFill/>
          <a:ln cap="flat" cmpd="sng" w="19050">
            <a:solidFill>
              <a:srgbClr val="FE7070"/>
            </a:solidFill>
            <a:prstDash val="solid"/>
            <a:round/>
            <a:headEnd len="sm" w="sm" type="none"/>
            <a:tailEnd len="sm" w="sm" type="none"/>
          </a:ln>
        </p:spPr>
      </p:cxnSp>
      <p:sp>
        <p:nvSpPr>
          <p:cNvPr id="92" name="Google Shape;92;p1"/>
          <p:cNvSpPr txBox="1"/>
          <p:nvPr/>
        </p:nvSpPr>
        <p:spPr>
          <a:xfrm>
            <a:off x="2537000" y="2666002"/>
            <a:ext cx="906600" cy="232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chemeClr val="dk1"/>
                </a:solidFill>
                <a:highlight>
                  <a:srgbClr val="FFF3C7"/>
                </a:highlight>
                <a:latin typeface="Barlow"/>
                <a:ea typeface="Barlow"/>
                <a:cs typeface="Barlow"/>
                <a:sym typeface="Barlow"/>
              </a:rPr>
              <a:t>N/Unknown</a:t>
            </a:r>
            <a:endParaRPr b="1" i="1" sz="1000" u="none" cap="none" strike="noStrike">
              <a:solidFill>
                <a:schemeClr val="dk1"/>
              </a:solidFill>
              <a:highlight>
                <a:srgbClr val="FFF3C7"/>
              </a:highlight>
              <a:latin typeface="Barlow"/>
              <a:ea typeface="Barlow"/>
              <a:cs typeface="Barlow"/>
              <a:sym typeface="Barlow"/>
            </a:endParaRPr>
          </a:p>
        </p:txBody>
      </p:sp>
      <p:sp>
        <p:nvSpPr>
          <p:cNvPr id="93" name="Google Shape;93;p1"/>
          <p:cNvSpPr txBox="1"/>
          <p:nvPr/>
        </p:nvSpPr>
        <p:spPr>
          <a:xfrm>
            <a:off x="5865050" y="0"/>
            <a:ext cx="1459200" cy="3376500"/>
          </a:xfrm>
          <a:prstGeom prst="rect">
            <a:avLst/>
          </a:prstGeom>
          <a:solidFill>
            <a:srgbClr val="4C9A60"/>
          </a:solidFill>
          <a:ln cap="flat" cmpd="sng" w="19050">
            <a:solidFill>
              <a:srgbClr val="4C9A60"/>
            </a:solidFill>
            <a:prstDash val="solid"/>
            <a:round/>
            <a:headEnd len="sm" w="sm" type="none"/>
            <a:tailEnd len="sm" w="sm" type="none"/>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lt1"/>
                </a:solidFill>
                <a:latin typeface="Barlow"/>
                <a:ea typeface="Barlow"/>
                <a:cs typeface="Barlow"/>
                <a:sym typeface="Barlow"/>
              </a:rPr>
              <a:t>RABIES</a:t>
            </a:r>
            <a:br>
              <a:rPr b="1" i="0" lang="en" sz="1300" u="none" cap="none" strike="noStrike">
                <a:solidFill>
                  <a:schemeClr val="lt1"/>
                </a:solidFill>
                <a:latin typeface="Barlow"/>
                <a:ea typeface="Barlow"/>
                <a:cs typeface="Barlow"/>
                <a:sym typeface="Barlow"/>
              </a:rPr>
            </a:br>
            <a:r>
              <a:rPr b="1" i="0" lang="en" sz="1300" u="none" cap="none" strike="noStrike">
                <a:solidFill>
                  <a:schemeClr val="lt1"/>
                </a:solidFill>
                <a:latin typeface="Barlow"/>
                <a:ea typeface="Barlow"/>
                <a:cs typeface="Barlow"/>
                <a:sym typeface="Barlow"/>
              </a:rPr>
              <a:t>POST-EXPOSURE PROPHYLAXIS DECISION TREE</a:t>
            </a:r>
            <a:endParaRPr b="1" i="1" sz="1300" u="none" cap="none" strike="noStrike">
              <a:solidFill>
                <a:schemeClr val="lt1"/>
              </a:solidFill>
              <a:latin typeface="Barlow"/>
              <a:ea typeface="Barlow"/>
              <a:cs typeface="Barlow"/>
              <a:sym typeface="Barlow"/>
            </a:endParaRPr>
          </a:p>
        </p:txBody>
      </p:sp>
      <p:pic>
        <p:nvPicPr>
          <p:cNvPr id="94" name="Google Shape;94;p1" title="DOH LOGO.png"/>
          <p:cNvPicPr preferRelativeResize="0"/>
          <p:nvPr/>
        </p:nvPicPr>
        <p:blipFill rotWithShape="1">
          <a:blip r:embed="rId3">
            <a:alphaModFix/>
          </a:blip>
          <a:srcRect b="0" l="0" r="0" t="0"/>
          <a:stretch/>
        </p:blipFill>
        <p:spPr>
          <a:xfrm>
            <a:off x="6141350" y="1461110"/>
            <a:ext cx="906586" cy="906586"/>
          </a:xfrm>
          <a:prstGeom prst="rect">
            <a:avLst/>
          </a:prstGeom>
          <a:noFill/>
          <a:ln>
            <a:noFill/>
          </a:ln>
        </p:spPr>
      </p:pic>
      <p:pic>
        <p:nvPicPr>
          <p:cNvPr id="95" name="Google Shape;95;p1" title="1024px-Bagong_Pilipinas_logo.png"/>
          <p:cNvPicPr preferRelativeResize="0"/>
          <p:nvPr/>
        </p:nvPicPr>
        <p:blipFill rotWithShape="1">
          <a:blip r:embed="rId4">
            <a:alphaModFix/>
          </a:blip>
          <a:srcRect b="0" l="0" r="0" t="0"/>
          <a:stretch/>
        </p:blipFill>
        <p:spPr>
          <a:xfrm>
            <a:off x="6108089" y="457188"/>
            <a:ext cx="973097" cy="906574"/>
          </a:xfrm>
          <a:prstGeom prst="rect">
            <a:avLst/>
          </a:prstGeom>
          <a:noFill/>
          <a:ln>
            <a:noFill/>
          </a:ln>
        </p:spPr>
      </p:pic>
      <p:sp>
        <p:nvSpPr>
          <p:cNvPr id="96" name="Google Shape;96;p1"/>
          <p:cNvSpPr/>
          <p:nvPr/>
        </p:nvSpPr>
        <p:spPr>
          <a:xfrm>
            <a:off x="1142950" y="2668035"/>
            <a:ext cx="91500" cy="338400"/>
          </a:xfrm>
          <a:prstGeom prst="downArrow">
            <a:avLst>
              <a:gd fmla="val 18525" name="adj1"/>
              <a:gd fmla="val 133060" name="adj2"/>
            </a:avLst>
          </a:prstGeom>
          <a:solidFill>
            <a:srgbClr val="FE7070"/>
          </a:solidFill>
          <a:ln>
            <a:noFill/>
          </a:ln>
        </p:spPr>
        <p:txBody>
          <a:bodyPr anchorCtr="0" anchor="t"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000000"/>
                </a:solidFill>
                <a:highlight>
                  <a:srgbClr val="FFF3C7"/>
                </a:highlight>
                <a:latin typeface="Barlow"/>
                <a:ea typeface="Barlow"/>
                <a:cs typeface="Barlow"/>
                <a:sym typeface="Barlow"/>
              </a:rPr>
              <a:t>N</a:t>
            </a:r>
            <a:endParaRPr b="1" i="0" sz="1000" u="none" cap="none" strike="noStrike">
              <a:solidFill>
                <a:srgbClr val="000000"/>
              </a:solidFill>
              <a:highlight>
                <a:srgbClr val="FFF3C7"/>
              </a:highlight>
              <a:latin typeface="Barlow"/>
              <a:ea typeface="Barlow"/>
              <a:cs typeface="Barlow"/>
              <a:sym typeface="Barlow"/>
            </a:endParaRPr>
          </a:p>
        </p:txBody>
      </p:sp>
      <p:sp>
        <p:nvSpPr>
          <p:cNvPr id="97" name="Google Shape;97;p1"/>
          <p:cNvSpPr txBox="1"/>
          <p:nvPr/>
        </p:nvSpPr>
        <p:spPr>
          <a:xfrm>
            <a:off x="5861859" y="4780611"/>
            <a:ext cx="1459200" cy="548700"/>
          </a:xfrm>
          <a:prstGeom prst="rect">
            <a:avLst/>
          </a:prstGeom>
          <a:solidFill>
            <a:srgbClr val="FFE082"/>
          </a:solidFill>
          <a:ln cap="flat" cmpd="sng" w="19050">
            <a:solidFill>
              <a:srgbClr val="F2B6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Barlow Medium"/>
                <a:ea typeface="Barlow Medium"/>
                <a:cs typeface="Barlow Medium"/>
                <a:sym typeface="Barlow Medium"/>
              </a:rPr>
              <a:t>Start </a:t>
            </a:r>
            <a:r>
              <a:rPr b="1" i="0" lang="en" sz="900" u="none" cap="none" strike="noStrike">
                <a:solidFill>
                  <a:schemeClr val="dk1"/>
                </a:solidFill>
                <a:latin typeface="Barlow"/>
                <a:ea typeface="Barlow"/>
                <a:cs typeface="Barlow"/>
                <a:sym typeface="Barlow"/>
              </a:rPr>
              <a:t>Booster PEP </a:t>
            </a:r>
            <a:r>
              <a:rPr b="0" i="1" lang="en" sz="900" u="none" cap="none" strike="noStrike">
                <a:solidFill>
                  <a:schemeClr val="dk1"/>
                </a:solidFill>
                <a:latin typeface="Barlow Medium"/>
                <a:ea typeface="Barlow Medium"/>
                <a:cs typeface="Barlow Medium"/>
                <a:sym typeface="Barlow Medium"/>
              </a:rPr>
              <a:t>(CCEEV) </a:t>
            </a:r>
            <a:r>
              <a:rPr b="0" i="0" lang="en" sz="900" u="none" cap="none" strike="noStrike">
                <a:solidFill>
                  <a:schemeClr val="dk1"/>
                </a:solidFill>
                <a:latin typeface="Barlow Medium"/>
                <a:ea typeface="Barlow Medium"/>
                <a:cs typeface="Barlow Medium"/>
                <a:sym typeface="Barlow Medium"/>
              </a:rPr>
              <a:t>immediately</a:t>
            </a:r>
            <a:endParaRPr b="0" i="0" sz="900" u="none" cap="none" strike="noStrike">
              <a:solidFill>
                <a:schemeClr val="dk1"/>
              </a:solidFill>
              <a:latin typeface="Barlow Medium"/>
              <a:ea typeface="Barlow Medium"/>
              <a:cs typeface="Barlow Medium"/>
              <a:sym typeface="Barlow Medium"/>
            </a:endParaRPr>
          </a:p>
        </p:txBody>
      </p:sp>
      <p:sp>
        <p:nvSpPr>
          <p:cNvPr id="98" name="Google Shape;98;p1"/>
          <p:cNvSpPr/>
          <p:nvPr/>
        </p:nvSpPr>
        <p:spPr>
          <a:xfrm>
            <a:off x="2944550" y="4437835"/>
            <a:ext cx="91500" cy="338400"/>
          </a:xfrm>
          <a:prstGeom prst="downArrow">
            <a:avLst>
              <a:gd fmla="val 18525" name="adj1"/>
              <a:gd fmla="val 133060" name="adj2"/>
            </a:avLst>
          </a:prstGeom>
          <a:solidFill>
            <a:srgbClr val="FE7070"/>
          </a:solidFill>
          <a:ln>
            <a:noFill/>
          </a:ln>
        </p:spPr>
        <p:txBody>
          <a:bodyPr anchorCtr="0" anchor="t"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000000"/>
                </a:solidFill>
                <a:highlight>
                  <a:srgbClr val="FFF0B8"/>
                </a:highlight>
                <a:latin typeface="Barlow"/>
                <a:ea typeface="Barlow"/>
                <a:cs typeface="Barlow"/>
                <a:sym typeface="Barlow"/>
              </a:rPr>
              <a:t>N</a:t>
            </a:r>
            <a:endParaRPr b="1" i="0" sz="1000" u="none" cap="none" strike="noStrike">
              <a:solidFill>
                <a:srgbClr val="000000"/>
              </a:solidFill>
              <a:highlight>
                <a:srgbClr val="FFF0B8"/>
              </a:highlight>
              <a:latin typeface="Barlow"/>
              <a:ea typeface="Barlow"/>
              <a:cs typeface="Barlow"/>
              <a:sym typeface="Barlow"/>
            </a:endParaRPr>
          </a:p>
        </p:txBody>
      </p:sp>
      <p:sp>
        <p:nvSpPr>
          <p:cNvPr id="99" name="Google Shape;99;p1"/>
          <p:cNvSpPr/>
          <p:nvPr/>
        </p:nvSpPr>
        <p:spPr>
          <a:xfrm>
            <a:off x="4060038" y="4780363"/>
            <a:ext cx="1463050" cy="548640"/>
          </a:xfrm>
          <a:prstGeom prst="flowChartPreparation">
            <a:avLst/>
          </a:prstGeom>
          <a:solidFill>
            <a:srgbClr val="CFF4D2"/>
          </a:solidFill>
          <a:ln cap="flat" cmpd="sng" w="19050">
            <a:solidFill>
              <a:srgbClr val="5DAE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Barlow Medium"/>
                <a:ea typeface="Barlow Medium"/>
                <a:cs typeface="Barlow Medium"/>
                <a:sym typeface="Barlow Medium"/>
              </a:rPr>
              <a:t>Patient </a:t>
            </a:r>
            <a:r>
              <a:rPr b="1" i="0" lang="en" sz="850" u="none" cap="none" strike="noStrike">
                <a:solidFill>
                  <a:schemeClr val="dk1"/>
                </a:solidFill>
                <a:latin typeface="Barlow"/>
                <a:ea typeface="Barlow"/>
                <a:cs typeface="Barlow"/>
                <a:sym typeface="Barlow"/>
              </a:rPr>
              <a:t>previously-immunized</a:t>
            </a:r>
            <a:r>
              <a:rPr b="1" baseline="30000" i="0" lang="en" sz="850" u="none" cap="none" strike="noStrike">
                <a:solidFill>
                  <a:schemeClr val="dk1"/>
                </a:solidFill>
                <a:latin typeface="Barlow"/>
                <a:ea typeface="Barlow"/>
                <a:cs typeface="Barlow"/>
                <a:sym typeface="Barlow"/>
              </a:rPr>
              <a:t>D</a:t>
            </a:r>
            <a:r>
              <a:rPr b="0" i="0" lang="en" sz="850" u="none" cap="none" strike="noStrike">
                <a:solidFill>
                  <a:schemeClr val="dk1"/>
                </a:solidFill>
                <a:latin typeface="Barlow Medium"/>
                <a:ea typeface="Barlow Medium"/>
                <a:cs typeface="Barlow Medium"/>
                <a:sym typeface="Barlow Medium"/>
              </a:rPr>
              <a:t>?</a:t>
            </a:r>
            <a:endParaRPr b="0" i="0" sz="900" u="none" cap="none" strike="noStrike">
              <a:solidFill>
                <a:schemeClr val="dk1"/>
              </a:solidFill>
              <a:latin typeface="Barlow Medium"/>
              <a:ea typeface="Barlow Medium"/>
              <a:cs typeface="Barlow Medium"/>
              <a:sym typeface="Barlow Medium"/>
            </a:endParaRPr>
          </a:p>
        </p:txBody>
      </p:sp>
      <p:sp>
        <p:nvSpPr>
          <p:cNvPr id="100" name="Google Shape;100;p1"/>
          <p:cNvSpPr/>
          <p:nvPr/>
        </p:nvSpPr>
        <p:spPr>
          <a:xfrm>
            <a:off x="2258775" y="5669275"/>
            <a:ext cx="1463050" cy="548640"/>
          </a:xfrm>
          <a:prstGeom prst="flowChartPreparation">
            <a:avLst/>
          </a:prstGeom>
          <a:solidFill>
            <a:srgbClr val="CFF4D2"/>
          </a:solidFill>
          <a:ln cap="flat" cmpd="sng" w="19050">
            <a:solidFill>
              <a:srgbClr val="5DAE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Barlow Medium"/>
                <a:ea typeface="Barlow Medium"/>
                <a:cs typeface="Barlow Medium"/>
                <a:sym typeface="Barlow Medium"/>
              </a:rPr>
              <a:t>Exposure from a </a:t>
            </a:r>
            <a:r>
              <a:rPr b="1" i="0" lang="en" sz="850" u="none" cap="none" strike="noStrike">
                <a:solidFill>
                  <a:schemeClr val="dk1"/>
                </a:solidFill>
                <a:latin typeface="Barlow"/>
                <a:ea typeface="Barlow"/>
                <a:cs typeface="Barlow"/>
                <a:sym typeface="Barlow"/>
              </a:rPr>
              <a:t>vaccinated animal</a:t>
            </a:r>
            <a:r>
              <a:rPr b="1" baseline="30000" i="0" lang="en" sz="850" u="none" cap="none" strike="noStrike">
                <a:solidFill>
                  <a:schemeClr val="dk1"/>
                </a:solidFill>
                <a:latin typeface="Barlow"/>
                <a:ea typeface="Barlow"/>
                <a:cs typeface="Barlow"/>
                <a:sym typeface="Barlow"/>
              </a:rPr>
              <a:t>E</a:t>
            </a:r>
            <a:r>
              <a:rPr b="0" i="0" lang="en" sz="850" u="none" cap="none" strike="noStrike">
                <a:solidFill>
                  <a:schemeClr val="dk1"/>
                </a:solidFill>
                <a:latin typeface="Barlow Medium"/>
                <a:ea typeface="Barlow Medium"/>
                <a:cs typeface="Barlow Medium"/>
                <a:sym typeface="Barlow Medium"/>
              </a:rPr>
              <a:t>?</a:t>
            </a:r>
            <a:endParaRPr b="0" i="0" sz="900" u="none" cap="none" strike="noStrike">
              <a:solidFill>
                <a:schemeClr val="dk1"/>
              </a:solidFill>
              <a:latin typeface="Barlow Medium"/>
              <a:ea typeface="Barlow Medium"/>
              <a:cs typeface="Barlow Medium"/>
              <a:sym typeface="Barlow Medium"/>
            </a:endParaRPr>
          </a:p>
        </p:txBody>
      </p:sp>
      <p:sp>
        <p:nvSpPr>
          <p:cNvPr id="101" name="Google Shape;101;p1"/>
          <p:cNvSpPr/>
          <p:nvPr/>
        </p:nvSpPr>
        <p:spPr>
          <a:xfrm>
            <a:off x="2258575" y="4783350"/>
            <a:ext cx="1463050" cy="548640"/>
          </a:xfrm>
          <a:prstGeom prst="flowChartPreparation">
            <a:avLst/>
          </a:prstGeom>
          <a:solidFill>
            <a:srgbClr val="CFF4D2"/>
          </a:solidFill>
          <a:ln cap="flat" cmpd="sng" w="19050">
            <a:solidFill>
              <a:srgbClr val="5DAE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Barlow Medium"/>
                <a:ea typeface="Barlow Medium"/>
                <a:cs typeface="Barlow Medium"/>
                <a:sym typeface="Barlow Medium"/>
              </a:rPr>
              <a:t>Any </a:t>
            </a:r>
            <a:r>
              <a:rPr b="1" i="0" lang="en" sz="900" u="none" cap="none" strike="noStrike">
                <a:solidFill>
                  <a:schemeClr val="dk1"/>
                </a:solidFill>
                <a:latin typeface="Barlow"/>
                <a:ea typeface="Barlow"/>
                <a:cs typeface="Barlow"/>
                <a:sym typeface="Barlow"/>
              </a:rPr>
              <a:t>high-risk criteria</a:t>
            </a:r>
            <a:r>
              <a:rPr b="1" baseline="30000" i="0" lang="en" sz="850" u="none" cap="none" strike="noStrike">
                <a:solidFill>
                  <a:schemeClr val="dk1"/>
                </a:solidFill>
                <a:latin typeface="Barlow"/>
                <a:ea typeface="Barlow"/>
                <a:cs typeface="Barlow"/>
                <a:sym typeface="Barlow"/>
              </a:rPr>
              <a:t>C</a:t>
            </a:r>
            <a:r>
              <a:rPr b="1" i="0" lang="en" sz="900" u="none" cap="none" strike="noStrike">
                <a:solidFill>
                  <a:schemeClr val="dk1"/>
                </a:solidFill>
                <a:latin typeface="Barlow"/>
                <a:ea typeface="Barlow"/>
                <a:cs typeface="Barlow"/>
                <a:sym typeface="Barlow"/>
              </a:rPr>
              <a:t> </a:t>
            </a:r>
            <a:r>
              <a:rPr b="0" i="0" lang="en" sz="900" u="none" cap="none" strike="noStrike">
                <a:solidFill>
                  <a:schemeClr val="dk1"/>
                </a:solidFill>
                <a:latin typeface="Barlow Medium"/>
                <a:ea typeface="Barlow Medium"/>
                <a:cs typeface="Barlow Medium"/>
                <a:sym typeface="Barlow Medium"/>
              </a:rPr>
              <a:t>present?</a:t>
            </a:r>
            <a:endParaRPr b="0" i="0" sz="900" u="none" cap="none" strike="noStrike">
              <a:solidFill>
                <a:schemeClr val="dk1"/>
              </a:solidFill>
              <a:latin typeface="Barlow Medium"/>
              <a:ea typeface="Barlow Medium"/>
              <a:cs typeface="Barlow Medium"/>
              <a:sym typeface="Barlow Medium"/>
            </a:endParaRPr>
          </a:p>
        </p:txBody>
      </p:sp>
      <p:sp>
        <p:nvSpPr>
          <p:cNvPr id="102" name="Google Shape;102;p1"/>
          <p:cNvSpPr/>
          <p:nvPr/>
        </p:nvSpPr>
        <p:spPr>
          <a:xfrm>
            <a:off x="4745700" y="5329485"/>
            <a:ext cx="91500" cy="338400"/>
          </a:xfrm>
          <a:prstGeom prst="downArrow">
            <a:avLst>
              <a:gd fmla="val 18525" name="adj1"/>
              <a:gd fmla="val 133060" name="adj2"/>
            </a:avLst>
          </a:prstGeom>
          <a:solidFill>
            <a:srgbClr val="FE7070"/>
          </a:solidFill>
          <a:ln>
            <a:noFill/>
          </a:ln>
        </p:spPr>
        <p:txBody>
          <a:bodyPr anchorCtr="0" anchor="t"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000000"/>
                </a:solidFill>
                <a:highlight>
                  <a:srgbClr val="FFF0B8"/>
                </a:highlight>
                <a:latin typeface="Barlow"/>
                <a:ea typeface="Barlow"/>
                <a:cs typeface="Barlow"/>
                <a:sym typeface="Barlow"/>
              </a:rPr>
              <a:t>N</a:t>
            </a:r>
            <a:endParaRPr b="1" i="0" sz="1000" u="none" cap="none" strike="noStrike">
              <a:solidFill>
                <a:srgbClr val="000000"/>
              </a:solidFill>
              <a:highlight>
                <a:srgbClr val="FFF0B8"/>
              </a:highlight>
              <a:latin typeface="Barlow"/>
              <a:ea typeface="Barlow"/>
              <a:cs typeface="Barlow"/>
              <a:sym typeface="Barlow"/>
            </a:endParaRPr>
          </a:p>
        </p:txBody>
      </p:sp>
      <p:sp>
        <p:nvSpPr>
          <p:cNvPr id="103" name="Google Shape;103;p1"/>
          <p:cNvSpPr txBox="1"/>
          <p:nvPr/>
        </p:nvSpPr>
        <p:spPr>
          <a:xfrm>
            <a:off x="4062259" y="5666861"/>
            <a:ext cx="1459200" cy="548700"/>
          </a:xfrm>
          <a:prstGeom prst="rect">
            <a:avLst/>
          </a:prstGeom>
          <a:solidFill>
            <a:srgbClr val="FFD8B5"/>
          </a:solidFill>
          <a:ln cap="flat" cmpd="sng" w="19050">
            <a:solidFill>
              <a:srgbClr val="F29F6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Barlow Medium"/>
                <a:ea typeface="Barlow Medium"/>
                <a:cs typeface="Barlow Medium"/>
                <a:sym typeface="Barlow Medium"/>
              </a:rPr>
              <a:t>Start </a:t>
            </a:r>
            <a:r>
              <a:rPr b="1" i="0" lang="en" sz="900" u="none" cap="none" strike="noStrike">
                <a:solidFill>
                  <a:schemeClr val="dk1"/>
                </a:solidFill>
                <a:latin typeface="Barlow"/>
                <a:ea typeface="Barlow"/>
                <a:cs typeface="Barlow"/>
                <a:sym typeface="Barlow"/>
              </a:rPr>
              <a:t>Primary PEP </a:t>
            </a:r>
            <a:r>
              <a:rPr b="0" i="1" lang="en" sz="900" u="none" cap="none" strike="noStrike">
                <a:solidFill>
                  <a:schemeClr val="dk1"/>
                </a:solidFill>
                <a:latin typeface="Barlow Medium"/>
                <a:ea typeface="Barlow Medium"/>
                <a:cs typeface="Barlow Medium"/>
                <a:sym typeface="Barlow Medium"/>
              </a:rPr>
              <a:t>(CCEEV)</a:t>
            </a:r>
            <a:r>
              <a:rPr b="0" i="0" lang="en" sz="900" u="none" cap="none" strike="noStrike">
                <a:solidFill>
                  <a:schemeClr val="dk1"/>
                </a:solidFill>
                <a:latin typeface="Barlow Medium"/>
                <a:ea typeface="Barlow Medium"/>
                <a:cs typeface="Barlow Medium"/>
                <a:sym typeface="Barlow Medium"/>
              </a:rPr>
              <a:t> immediately</a:t>
            </a:r>
            <a:endParaRPr b="0" i="1" sz="900" u="none" cap="none" strike="noStrike">
              <a:solidFill>
                <a:schemeClr val="dk1"/>
              </a:solidFill>
              <a:latin typeface="Barlow Medium"/>
              <a:ea typeface="Barlow Medium"/>
              <a:cs typeface="Barlow Medium"/>
              <a:sym typeface="Barlow Medium"/>
            </a:endParaRPr>
          </a:p>
        </p:txBody>
      </p:sp>
      <p:sp>
        <p:nvSpPr>
          <p:cNvPr id="104" name="Google Shape;104;p1"/>
          <p:cNvSpPr txBox="1"/>
          <p:nvPr/>
        </p:nvSpPr>
        <p:spPr>
          <a:xfrm>
            <a:off x="2258549" y="6555163"/>
            <a:ext cx="1463100" cy="548700"/>
          </a:xfrm>
          <a:prstGeom prst="rect">
            <a:avLst/>
          </a:prstGeom>
          <a:solidFill>
            <a:srgbClr val="CFE8FF"/>
          </a:solidFill>
          <a:ln cap="flat" cmpd="sng" w="19050">
            <a:solidFill>
              <a:srgbClr val="5B9B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Barlow Medium"/>
                <a:ea typeface="Barlow Medium"/>
                <a:cs typeface="Barlow Medium"/>
                <a:sym typeface="Barlow Medium"/>
              </a:rPr>
              <a:t>PEP </a:t>
            </a:r>
            <a:r>
              <a:rPr b="1" i="0" lang="en" sz="900" u="none" cap="none" strike="noStrike">
                <a:solidFill>
                  <a:schemeClr val="dk1"/>
                </a:solidFill>
                <a:latin typeface="Barlow"/>
                <a:ea typeface="Barlow"/>
                <a:cs typeface="Barlow"/>
                <a:sym typeface="Barlow"/>
              </a:rPr>
              <a:t>not </a:t>
            </a:r>
            <a:r>
              <a:rPr b="0" i="0" lang="en" sz="900" u="none" cap="none" strike="noStrike">
                <a:solidFill>
                  <a:schemeClr val="dk1"/>
                </a:solidFill>
                <a:latin typeface="Barlow Medium"/>
                <a:ea typeface="Barlow Medium"/>
                <a:cs typeface="Barlow Medium"/>
                <a:sym typeface="Barlow Medium"/>
              </a:rPr>
              <a:t>indicated</a:t>
            </a:r>
            <a:endParaRPr b="0" i="0" sz="900" u="none" cap="none" strike="noStrike">
              <a:solidFill>
                <a:schemeClr val="dk1"/>
              </a:solidFill>
              <a:latin typeface="Barlow Medium"/>
              <a:ea typeface="Barlow Medium"/>
              <a:cs typeface="Barlow Medium"/>
              <a:sym typeface="Barlow Medium"/>
            </a:endParaRPr>
          </a:p>
        </p:txBody>
      </p:sp>
      <p:sp>
        <p:nvSpPr>
          <p:cNvPr id="105" name="Google Shape;105;p1"/>
          <p:cNvSpPr/>
          <p:nvPr/>
        </p:nvSpPr>
        <p:spPr>
          <a:xfrm>
            <a:off x="2944350" y="5330947"/>
            <a:ext cx="91500" cy="338400"/>
          </a:xfrm>
          <a:prstGeom prst="downArrow">
            <a:avLst>
              <a:gd fmla="val 18525" name="adj1"/>
              <a:gd fmla="val 133060" name="adj2"/>
            </a:avLst>
          </a:prstGeom>
          <a:solidFill>
            <a:srgbClr val="FE7070"/>
          </a:solidFill>
          <a:ln>
            <a:noFill/>
          </a:ln>
        </p:spPr>
        <p:txBody>
          <a:bodyPr anchorCtr="0" anchor="t"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000000"/>
                </a:solidFill>
                <a:highlight>
                  <a:srgbClr val="FFF0B8"/>
                </a:highlight>
                <a:latin typeface="Barlow"/>
                <a:ea typeface="Barlow"/>
                <a:cs typeface="Barlow"/>
                <a:sym typeface="Barlow"/>
              </a:rPr>
              <a:t>N</a:t>
            </a:r>
            <a:endParaRPr b="1" i="0" sz="1000" u="none" cap="none" strike="noStrike">
              <a:solidFill>
                <a:srgbClr val="000000"/>
              </a:solidFill>
              <a:highlight>
                <a:srgbClr val="FFF0B8"/>
              </a:highlight>
              <a:latin typeface="Barlow"/>
              <a:ea typeface="Barlow"/>
              <a:cs typeface="Barlow"/>
              <a:sym typeface="Barlow"/>
            </a:endParaRPr>
          </a:p>
        </p:txBody>
      </p:sp>
      <p:sp>
        <p:nvSpPr>
          <p:cNvPr id="106" name="Google Shape;106;p1"/>
          <p:cNvSpPr/>
          <p:nvPr/>
        </p:nvSpPr>
        <p:spPr>
          <a:xfrm>
            <a:off x="2944550" y="6217935"/>
            <a:ext cx="91500" cy="338400"/>
          </a:xfrm>
          <a:prstGeom prst="downArrow">
            <a:avLst>
              <a:gd fmla="val 18525" name="adj1"/>
              <a:gd fmla="val 133060" name="adj2"/>
            </a:avLst>
          </a:prstGeom>
          <a:solidFill>
            <a:srgbClr val="2F9E44"/>
          </a:solidFill>
          <a:ln>
            <a:noFill/>
          </a:ln>
        </p:spPr>
        <p:txBody>
          <a:bodyPr anchorCtr="0" anchor="t"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000000"/>
                </a:solidFill>
                <a:highlight>
                  <a:srgbClr val="FFEEB2"/>
                </a:highlight>
                <a:latin typeface="Barlow"/>
                <a:ea typeface="Barlow"/>
                <a:cs typeface="Barlow"/>
                <a:sym typeface="Barlow"/>
              </a:rPr>
              <a:t>Y</a:t>
            </a:r>
            <a:endParaRPr b="1" i="0" sz="1000" u="none" cap="none" strike="noStrike">
              <a:solidFill>
                <a:srgbClr val="000000"/>
              </a:solidFill>
              <a:highlight>
                <a:srgbClr val="FFEEB2"/>
              </a:highlight>
              <a:latin typeface="Barlow"/>
              <a:ea typeface="Barlow"/>
              <a:cs typeface="Barlow"/>
              <a:sym typeface="Barlow"/>
            </a:endParaRPr>
          </a:p>
        </p:txBody>
      </p:sp>
      <p:sp>
        <p:nvSpPr>
          <p:cNvPr id="107" name="Google Shape;107;p1"/>
          <p:cNvSpPr txBox="1"/>
          <p:nvPr/>
        </p:nvSpPr>
        <p:spPr>
          <a:xfrm>
            <a:off x="3750" y="9973850"/>
            <a:ext cx="7772400" cy="1913400"/>
          </a:xfrm>
          <a:prstGeom prst="rect">
            <a:avLst/>
          </a:prstGeom>
          <a:solidFill>
            <a:srgbClr val="4C9A60"/>
          </a:solidFill>
          <a:ln>
            <a:noFill/>
          </a:ln>
        </p:spPr>
        <p:txBody>
          <a:bodyPr anchorCtr="0" anchor="t" bIns="91425" lIns="91425" spcFirstLastPara="1" rIns="91425" wrap="square" tIns="45700">
            <a:noAutofit/>
          </a:bodyPr>
          <a:lstStyle/>
          <a:p>
            <a:pPr indent="0" lvl="0" marL="285750" marR="164223" rtl="0" algn="just">
              <a:lnSpc>
                <a:spcPct val="100000"/>
              </a:lnSpc>
              <a:spcBef>
                <a:spcPts val="0"/>
              </a:spcBef>
              <a:spcAft>
                <a:spcPts val="0"/>
              </a:spcAft>
              <a:buClr>
                <a:srgbClr val="000000"/>
              </a:buClr>
              <a:buSzPts val="800"/>
              <a:buFont typeface="Arial"/>
              <a:buNone/>
            </a:pPr>
            <a:r>
              <a:rPr b="1" baseline="30000" i="0" lang="en" sz="800" u="none" cap="none" strike="noStrike">
                <a:solidFill>
                  <a:schemeClr val="lt1"/>
                </a:solidFill>
                <a:latin typeface="Barlow"/>
                <a:ea typeface="Barlow"/>
                <a:cs typeface="Barlow"/>
                <a:sym typeface="Barlow"/>
              </a:rPr>
              <a:t>A</a:t>
            </a:r>
            <a:r>
              <a:rPr b="1" i="0" lang="en" sz="800" u="none" cap="none" strike="noStrike">
                <a:solidFill>
                  <a:schemeClr val="lt1"/>
                </a:solidFill>
                <a:latin typeface="Barlow"/>
                <a:ea typeface="Barlow"/>
                <a:cs typeface="Barlow"/>
                <a:sym typeface="Barlow"/>
              </a:rPr>
              <a:t> Rabies-susceptible mammal</a:t>
            </a:r>
            <a:r>
              <a:rPr b="0" i="0" lang="en" sz="800" u="none" cap="none" strike="noStrike">
                <a:solidFill>
                  <a:schemeClr val="lt1"/>
                </a:solidFill>
                <a:latin typeface="Barlow"/>
                <a:ea typeface="Barlow"/>
                <a:cs typeface="Barlow"/>
                <a:sym typeface="Barlow"/>
              </a:rPr>
              <a:t>: Includes domestic animals (dog, cat), livestock (cows, pigs, horses, goats, etc.), and wild animals (bats, monkeys, etc.). Bites from rodents, guinea pigs, hamsters, rabbits, snakes and other reptiles, birds and other avians, insects, and fish do not require rabies PEP.</a:t>
            </a:r>
            <a:endParaRPr b="0" i="0" sz="800" u="none" cap="none" strike="noStrike">
              <a:solidFill>
                <a:schemeClr val="lt1"/>
              </a:solidFill>
              <a:latin typeface="Barlow"/>
              <a:ea typeface="Barlow"/>
              <a:cs typeface="Barlow"/>
              <a:sym typeface="Barlow"/>
            </a:endParaRPr>
          </a:p>
          <a:p>
            <a:pPr indent="0" lvl="0" marL="285750" marR="164223" rtl="0" algn="just">
              <a:lnSpc>
                <a:spcPct val="100000"/>
              </a:lnSpc>
              <a:spcBef>
                <a:spcPts val="0"/>
              </a:spcBef>
              <a:spcAft>
                <a:spcPts val="0"/>
              </a:spcAft>
              <a:buClr>
                <a:srgbClr val="000000"/>
              </a:buClr>
              <a:buSzPts val="800"/>
              <a:buFont typeface="Arial"/>
              <a:buNone/>
            </a:pPr>
            <a:r>
              <a:rPr b="1" baseline="30000" i="0" lang="en" sz="800" u="none" cap="none" strike="noStrike">
                <a:solidFill>
                  <a:schemeClr val="lt1"/>
                </a:solidFill>
                <a:latin typeface="Barlow"/>
                <a:ea typeface="Barlow"/>
                <a:cs typeface="Barlow"/>
                <a:sym typeface="Barlow"/>
              </a:rPr>
              <a:t>B</a:t>
            </a:r>
            <a:r>
              <a:rPr b="1" i="0" lang="en" sz="800" u="none" cap="none" strike="noStrike">
                <a:solidFill>
                  <a:schemeClr val="lt1"/>
                </a:solidFill>
                <a:latin typeface="Barlow"/>
                <a:ea typeface="Barlow"/>
                <a:cs typeface="Barlow"/>
                <a:sym typeface="Barlow"/>
              </a:rPr>
              <a:t> Immunocompromised individual</a:t>
            </a:r>
            <a:r>
              <a:rPr b="0" i="0" lang="en" sz="800" u="none" cap="none" strike="noStrike">
                <a:solidFill>
                  <a:schemeClr val="lt1"/>
                </a:solidFill>
                <a:latin typeface="Barlow"/>
                <a:ea typeface="Barlow"/>
                <a:cs typeface="Barlow"/>
                <a:sym typeface="Barlow"/>
              </a:rPr>
              <a:t>: Refers to patients with conditions such as symptomatic HIV infection not on antiretroviral therapy or not virally suppressed, cancer or transplant, chronic steroid or other immunosuppressive therapy, end-stage renal disease (ESRD), or chronic liver disease.</a:t>
            </a:r>
            <a:endParaRPr b="0" i="0" sz="800" u="none" cap="none" strike="noStrike">
              <a:solidFill>
                <a:schemeClr val="lt1"/>
              </a:solidFill>
              <a:latin typeface="Barlow"/>
              <a:ea typeface="Barlow"/>
              <a:cs typeface="Barlow"/>
              <a:sym typeface="Barlow"/>
            </a:endParaRPr>
          </a:p>
          <a:p>
            <a:pPr indent="0" lvl="0" marL="285750" marR="164223" rtl="0" algn="just">
              <a:lnSpc>
                <a:spcPct val="100000"/>
              </a:lnSpc>
              <a:spcBef>
                <a:spcPts val="0"/>
              </a:spcBef>
              <a:spcAft>
                <a:spcPts val="0"/>
              </a:spcAft>
              <a:buClr>
                <a:schemeClr val="dk1"/>
              </a:buClr>
              <a:buSzPts val="1100"/>
              <a:buFont typeface="Arial"/>
              <a:buNone/>
            </a:pPr>
            <a:r>
              <a:rPr b="1" baseline="30000" i="0" lang="en" sz="800" u="none" cap="none" strike="noStrike">
                <a:solidFill>
                  <a:schemeClr val="lt1"/>
                </a:solidFill>
                <a:latin typeface="Barlow"/>
                <a:ea typeface="Barlow"/>
                <a:cs typeface="Barlow"/>
                <a:sym typeface="Barlow"/>
              </a:rPr>
              <a:t>C</a:t>
            </a:r>
            <a:r>
              <a:rPr b="1" i="0" lang="en" sz="800" u="none" cap="none" strike="noStrike">
                <a:solidFill>
                  <a:schemeClr val="lt1"/>
                </a:solidFill>
                <a:latin typeface="Barlow"/>
                <a:ea typeface="Barlow"/>
                <a:cs typeface="Barlow"/>
                <a:sym typeface="Barlow"/>
              </a:rPr>
              <a:t> High-risk criteria</a:t>
            </a:r>
            <a:r>
              <a:rPr b="0" i="0" lang="en" sz="800" u="none" cap="none" strike="noStrike">
                <a:solidFill>
                  <a:schemeClr val="lt1"/>
                </a:solidFill>
                <a:latin typeface="Barlow"/>
                <a:ea typeface="Barlow"/>
                <a:cs typeface="Barlow"/>
                <a:sym typeface="Barlow"/>
              </a:rPr>
              <a:t>: </a:t>
            </a:r>
            <a:endParaRPr b="0" i="0" sz="800" u="none" cap="none" strike="noStrike">
              <a:solidFill>
                <a:schemeClr val="lt1"/>
              </a:solidFill>
              <a:latin typeface="Barlow"/>
              <a:ea typeface="Barlow"/>
              <a:cs typeface="Barlow"/>
              <a:sym typeface="Barlow"/>
            </a:endParaRPr>
          </a:p>
          <a:p>
            <a:pPr indent="-107950" lvl="0" marL="514350" marR="164223" rtl="0" algn="just">
              <a:lnSpc>
                <a:spcPct val="100000"/>
              </a:lnSpc>
              <a:spcBef>
                <a:spcPts val="0"/>
              </a:spcBef>
              <a:spcAft>
                <a:spcPts val="0"/>
              </a:spcAft>
              <a:buClr>
                <a:schemeClr val="lt1"/>
              </a:buClr>
              <a:buSzPts val="800"/>
              <a:buFont typeface="Barlow"/>
              <a:buAutoNum type="arabicPeriod"/>
            </a:pPr>
            <a:r>
              <a:rPr b="0" i="0" lang="en" sz="800" u="none" cap="none" strike="noStrike">
                <a:solidFill>
                  <a:schemeClr val="lt1"/>
                </a:solidFill>
                <a:latin typeface="Barlow"/>
                <a:ea typeface="Barlow"/>
                <a:cs typeface="Barlow"/>
                <a:sym typeface="Barlow"/>
              </a:rPr>
              <a:t>Vaccinated &gt;6 months ago with ≥3 doses</a:t>
            </a:r>
            <a:endParaRPr b="0" i="0" sz="800" u="none" cap="none" strike="noStrike">
              <a:solidFill>
                <a:schemeClr val="lt1"/>
              </a:solidFill>
              <a:latin typeface="Barlow"/>
              <a:ea typeface="Barlow"/>
              <a:cs typeface="Barlow"/>
              <a:sym typeface="Barlow"/>
            </a:endParaRPr>
          </a:p>
          <a:p>
            <a:pPr indent="-107950" lvl="0" marL="514350" marR="164223" rtl="0" algn="just">
              <a:lnSpc>
                <a:spcPct val="100000"/>
              </a:lnSpc>
              <a:spcBef>
                <a:spcPts val="0"/>
              </a:spcBef>
              <a:spcAft>
                <a:spcPts val="0"/>
              </a:spcAft>
              <a:buClr>
                <a:schemeClr val="lt1"/>
              </a:buClr>
              <a:buSzPts val="800"/>
              <a:buFont typeface="Barlow"/>
              <a:buAutoNum type="arabicPeriod"/>
            </a:pPr>
            <a:r>
              <a:rPr b="0" i="0" lang="en" sz="800" u="none" cap="none" strike="noStrike">
                <a:solidFill>
                  <a:schemeClr val="lt1"/>
                </a:solidFill>
                <a:latin typeface="Barlow"/>
                <a:ea typeface="Barlow"/>
                <a:cs typeface="Barlow"/>
                <a:sym typeface="Barlow"/>
              </a:rPr>
              <a:t>Biting animal cannot be observed, is sick or rabid, dies, or is a bat</a:t>
            </a:r>
            <a:endParaRPr b="0" i="0" sz="800" u="none" cap="none" strike="noStrike">
              <a:solidFill>
                <a:schemeClr val="lt1"/>
              </a:solidFill>
              <a:latin typeface="Barlow"/>
              <a:ea typeface="Barlow"/>
              <a:cs typeface="Barlow"/>
              <a:sym typeface="Barlow"/>
            </a:endParaRPr>
          </a:p>
          <a:p>
            <a:pPr indent="-107950" lvl="0" marL="514350" marR="164223" rtl="0" algn="just">
              <a:lnSpc>
                <a:spcPct val="100000"/>
              </a:lnSpc>
              <a:spcBef>
                <a:spcPts val="0"/>
              </a:spcBef>
              <a:spcAft>
                <a:spcPts val="0"/>
              </a:spcAft>
              <a:buClr>
                <a:schemeClr val="lt1"/>
              </a:buClr>
              <a:buSzPts val="800"/>
              <a:buFont typeface="Barlow"/>
              <a:buAutoNum type="arabicPeriod"/>
            </a:pPr>
            <a:r>
              <a:rPr b="0" i="0" lang="en" sz="800" u="none" cap="none" strike="noStrike">
                <a:solidFill>
                  <a:schemeClr val="lt1"/>
                </a:solidFill>
                <a:latin typeface="Barlow"/>
                <a:ea typeface="Barlow"/>
                <a:cs typeface="Barlow"/>
                <a:sym typeface="Barlow"/>
              </a:rPr>
              <a:t>Wounds in highly innervated areas (neck, head, genital area, hands, toes, or in very close proximity to the CNS)</a:t>
            </a:r>
            <a:endParaRPr b="0" i="0" sz="800" u="none" cap="none" strike="noStrike">
              <a:solidFill>
                <a:schemeClr val="lt1"/>
              </a:solidFill>
              <a:latin typeface="Barlow"/>
              <a:ea typeface="Barlow"/>
              <a:cs typeface="Barlow"/>
              <a:sym typeface="Barlow"/>
            </a:endParaRPr>
          </a:p>
          <a:p>
            <a:pPr indent="-107950" lvl="0" marL="514350" marR="164223" rtl="0" algn="just">
              <a:lnSpc>
                <a:spcPct val="100000"/>
              </a:lnSpc>
              <a:spcBef>
                <a:spcPts val="0"/>
              </a:spcBef>
              <a:spcAft>
                <a:spcPts val="0"/>
              </a:spcAft>
              <a:buClr>
                <a:schemeClr val="lt1"/>
              </a:buClr>
              <a:buSzPts val="800"/>
              <a:buFont typeface="Barlow"/>
              <a:buAutoNum type="arabicPeriod"/>
            </a:pPr>
            <a:r>
              <a:rPr b="0" i="0" lang="en" sz="800" u="none" cap="none" strike="noStrike">
                <a:solidFill>
                  <a:schemeClr val="lt1"/>
                </a:solidFill>
                <a:latin typeface="Barlow"/>
                <a:ea typeface="Barlow"/>
                <a:cs typeface="Barlow"/>
                <a:sym typeface="Barlow"/>
              </a:rPr>
              <a:t>Multiple or deep wounds</a:t>
            </a:r>
            <a:endParaRPr b="0" i="0" sz="800" u="none" cap="none" strike="noStrike">
              <a:solidFill>
                <a:schemeClr val="lt1"/>
              </a:solidFill>
              <a:latin typeface="Barlow"/>
              <a:ea typeface="Barlow"/>
              <a:cs typeface="Barlow"/>
              <a:sym typeface="Barlow"/>
            </a:endParaRPr>
          </a:p>
          <a:p>
            <a:pPr indent="-107950" lvl="0" marL="514350" marR="164223" rtl="0" algn="just">
              <a:lnSpc>
                <a:spcPct val="100000"/>
              </a:lnSpc>
              <a:spcBef>
                <a:spcPts val="0"/>
              </a:spcBef>
              <a:spcAft>
                <a:spcPts val="0"/>
              </a:spcAft>
              <a:buClr>
                <a:schemeClr val="lt1"/>
              </a:buClr>
              <a:buSzPts val="800"/>
              <a:buFont typeface="Barlow"/>
              <a:buAutoNum type="arabicPeriod"/>
            </a:pPr>
            <a:r>
              <a:rPr b="0" i="0" lang="en" sz="800" u="none" cap="none" strike="noStrike">
                <a:solidFill>
                  <a:schemeClr val="lt1"/>
                </a:solidFill>
                <a:latin typeface="Barlow"/>
                <a:ea typeface="Barlow"/>
                <a:cs typeface="Barlow"/>
                <a:sym typeface="Barlow"/>
              </a:rPr>
              <a:t>Patient has uncontrolled co-morbidities</a:t>
            </a:r>
            <a:endParaRPr b="0" i="0" sz="800" u="none" cap="none" strike="noStrike">
              <a:solidFill>
                <a:schemeClr val="lt1"/>
              </a:solidFill>
              <a:latin typeface="Barlow"/>
              <a:ea typeface="Barlow"/>
              <a:cs typeface="Barlow"/>
              <a:sym typeface="Barlow"/>
            </a:endParaRPr>
          </a:p>
          <a:p>
            <a:pPr indent="-107950" lvl="0" marL="514350" marR="164223" rtl="0" algn="just">
              <a:lnSpc>
                <a:spcPct val="100000"/>
              </a:lnSpc>
              <a:spcBef>
                <a:spcPts val="0"/>
              </a:spcBef>
              <a:spcAft>
                <a:spcPts val="0"/>
              </a:spcAft>
              <a:buClr>
                <a:schemeClr val="lt1"/>
              </a:buClr>
              <a:buSzPts val="800"/>
              <a:buFont typeface="Barlow"/>
              <a:buAutoNum type="arabicPeriod"/>
            </a:pPr>
            <a:r>
              <a:rPr b="0" i="0" lang="en" sz="800" u="none" cap="none" strike="noStrike">
                <a:solidFill>
                  <a:schemeClr val="lt1"/>
                </a:solidFill>
                <a:latin typeface="Barlow"/>
                <a:ea typeface="Barlow"/>
                <a:cs typeface="Barlow"/>
                <a:sym typeface="Barlow"/>
              </a:rPr>
              <a:t>Patient is from a hard-to-reach area with infrequent transportation to and from ABTC/ABC</a:t>
            </a:r>
            <a:endParaRPr b="0" i="0" sz="800" u="none" cap="none" strike="noStrike">
              <a:solidFill>
                <a:schemeClr val="lt1"/>
              </a:solidFill>
              <a:latin typeface="Barlow"/>
              <a:ea typeface="Barlow"/>
              <a:cs typeface="Barlow"/>
              <a:sym typeface="Barlow"/>
            </a:endParaRPr>
          </a:p>
          <a:p>
            <a:pPr indent="0" lvl="0" marL="285750" marR="164223" rtl="0" algn="just">
              <a:lnSpc>
                <a:spcPct val="100000"/>
              </a:lnSpc>
              <a:spcBef>
                <a:spcPts val="0"/>
              </a:spcBef>
              <a:spcAft>
                <a:spcPts val="0"/>
              </a:spcAft>
              <a:buClr>
                <a:srgbClr val="000000"/>
              </a:buClr>
              <a:buSzPts val="800"/>
              <a:buFont typeface="Arial"/>
              <a:buNone/>
            </a:pPr>
            <a:r>
              <a:rPr b="1" baseline="30000" i="0" lang="en" sz="800" u="none" cap="none" strike="noStrike">
                <a:solidFill>
                  <a:schemeClr val="lt1"/>
                </a:solidFill>
                <a:latin typeface="Barlow"/>
                <a:ea typeface="Barlow"/>
                <a:cs typeface="Barlow"/>
                <a:sym typeface="Barlow"/>
              </a:rPr>
              <a:t>D</a:t>
            </a:r>
            <a:r>
              <a:rPr b="1" i="0" lang="en" sz="800" u="none" cap="none" strike="noStrike">
                <a:solidFill>
                  <a:schemeClr val="lt1"/>
                </a:solidFill>
                <a:latin typeface="Barlow"/>
                <a:ea typeface="Barlow"/>
                <a:cs typeface="Barlow"/>
                <a:sym typeface="Barlow"/>
              </a:rPr>
              <a:t> Previously immunized individual: </a:t>
            </a:r>
            <a:r>
              <a:rPr b="0" i="0" lang="en" sz="800" u="none" cap="none" strike="noStrike">
                <a:solidFill>
                  <a:schemeClr val="lt1"/>
                </a:solidFill>
                <a:latin typeface="Barlow"/>
                <a:ea typeface="Barlow"/>
                <a:cs typeface="Barlow"/>
                <a:sym typeface="Barlow"/>
              </a:rPr>
              <a:t>Refers to patients who have documented evidence of at least three (3) prior doses of anti-rabies vaccine.</a:t>
            </a:r>
            <a:endParaRPr b="0" i="0" sz="800" u="none" cap="none" strike="noStrike">
              <a:solidFill>
                <a:schemeClr val="lt1"/>
              </a:solidFill>
              <a:latin typeface="Barlow"/>
              <a:ea typeface="Barlow"/>
              <a:cs typeface="Barlow"/>
              <a:sym typeface="Barlow"/>
            </a:endParaRPr>
          </a:p>
          <a:p>
            <a:pPr indent="0" lvl="0" marL="285750" marR="164223" rtl="0" algn="just">
              <a:lnSpc>
                <a:spcPct val="100000"/>
              </a:lnSpc>
              <a:spcBef>
                <a:spcPts val="0"/>
              </a:spcBef>
              <a:spcAft>
                <a:spcPts val="0"/>
              </a:spcAft>
              <a:buClr>
                <a:srgbClr val="000000"/>
              </a:buClr>
              <a:buSzPts val="800"/>
              <a:buFont typeface="Arial"/>
              <a:buNone/>
            </a:pPr>
            <a:r>
              <a:rPr b="1" baseline="30000" i="0" lang="en" sz="800" u="none" cap="none" strike="noStrike">
                <a:solidFill>
                  <a:schemeClr val="lt1"/>
                </a:solidFill>
                <a:latin typeface="Barlow"/>
                <a:ea typeface="Barlow"/>
                <a:cs typeface="Barlow"/>
                <a:sym typeface="Barlow"/>
              </a:rPr>
              <a:t>E</a:t>
            </a:r>
            <a:r>
              <a:rPr b="1" i="0" lang="en" sz="800" u="none" cap="none" strike="noStrike">
                <a:solidFill>
                  <a:schemeClr val="lt1"/>
                </a:solidFill>
                <a:latin typeface="Barlow"/>
                <a:ea typeface="Barlow"/>
                <a:cs typeface="Barlow"/>
                <a:sym typeface="Barlow"/>
              </a:rPr>
              <a:t> Vaccinated animal</a:t>
            </a:r>
            <a:r>
              <a:rPr b="0" i="0" lang="en" sz="800" u="none" cap="none" strike="noStrike">
                <a:solidFill>
                  <a:schemeClr val="lt1"/>
                </a:solidFill>
                <a:latin typeface="Barlow"/>
                <a:ea typeface="Barlow"/>
                <a:cs typeface="Barlow"/>
                <a:sym typeface="Barlow"/>
              </a:rPr>
              <a:t>: Refers to a dog or cat with updated anti-rabies vaccination within the past 2 years, supported by documented evidence (i.e., a vaccination certificate) issued by a duly licensed veterinarian.</a:t>
            </a:r>
            <a:endParaRPr b="0" baseline="30000" i="0" sz="800" u="none" cap="none" strike="noStrike">
              <a:solidFill>
                <a:schemeClr val="lt1"/>
              </a:solidFill>
              <a:latin typeface="Barlow"/>
              <a:ea typeface="Barlow"/>
              <a:cs typeface="Barlow"/>
              <a:sym typeface="Barlow"/>
            </a:endParaRPr>
          </a:p>
          <a:p>
            <a:pPr indent="0" lvl="0" marL="285750" marR="164223" rtl="0" algn="just">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Barlow"/>
              <a:ea typeface="Barlow"/>
              <a:cs typeface="Barlow"/>
              <a:sym typeface="Barlow"/>
            </a:endParaRPr>
          </a:p>
          <a:p>
            <a:pPr indent="0" lvl="0" marL="285750" marR="164223" rtl="0" algn="just">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Barlow"/>
              <a:ea typeface="Barlow"/>
              <a:cs typeface="Barlow"/>
              <a:sym typeface="Barlow"/>
            </a:endParaRPr>
          </a:p>
        </p:txBody>
      </p:sp>
      <p:sp>
        <p:nvSpPr>
          <p:cNvPr id="108" name="Google Shape;108;p1"/>
          <p:cNvSpPr/>
          <p:nvPr/>
        </p:nvSpPr>
        <p:spPr>
          <a:xfrm>
            <a:off x="1143000" y="4450225"/>
            <a:ext cx="91500" cy="2993100"/>
          </a:xfrm>
          <a:prstGeom prst="downArrow">
            <a:avLst>
              <a:gd fmla="val 18525" name="adj1"/>
              <a:gd fmla="val 133060" name="adj2"/>
            </a:avLst>
          </a:prstGeom>
          <a:solidFill>
            <a:srgbClr val="FE7070"/>
          </a:solidFill>
          <a:ln>
            <a:noFill/>
          </a:ln>
        </p:spPr>
        <p:txBody>
          <a:bodyPr anchorCtr="0" anchor="t"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000000"/>
                </a:solidFill>
                <a:highlight>
                  <a:srgbClr val="FFF0B8"/>
                </a:highlight>
                <a:latin typeface="Barlow"/>
                <a:ea typeface="Barlow"/>
                <a:cs typeface="Barlow"/>
                <a:sym typeface="Barlow"/>
              </a:rPr>
              <a:t>N</a:t>
            </a:r>
            <a:endParaRPr b="1" i="0" sz="1000" u="none" cap="none" strike="noStrike">
              <a:solidFill>
                <a:srgbClr val="000000"/>
              </a:solidFill>
              <a:highlight>
                <a:srgbClr val="FFF0B8"/>
              </a:highlight>
              <a:latin typeface="Barlow"/>
              <a:ea typeface="Barlow"/>
              <a:cs typeface="Barlow"/>
              <a:sym typeface="Barlow"/>
            </a:endParaRPr>
          </a:p>
        </p:txBody>
      </p:sp>
      <p:sp>
        <p:nvSpPr>
          <p:cNvPr id="109" name="Google Shape;109;p1"/>
          <p:cNvSpPr/>
          <p:nvPr/>
        </p:nvSpPr>
        <p:spPr>
          <a:xfrm>
            <a:off x="5523275" y="5009188"/>
            <a:ext cx="338400" cy="91500"/>
          </a:xfrm>
          <a:prstGeom prst="rightArrow">
            <a:avLst>
              <a:gd fmla="val 17338" name="adj1"/>
              <a:gd fmla="val 133060" name="adj2"/>
            </a:avLst>
          </a:prstGeom>
          <a:solidFill>
            <a:srgbClr val="2F9E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highlight>
                  <a:srgbClr val="FFF0B8"/>
                </a:highlight>
                <a:latin typeface="Barlow"/>
                <a:ea typeface="Barlow"/>
                <a:cs typeface="Barlow"/>
                <a:sym typeface="Barlow"/>
              </a:rPr>
              <a:t>Y</a:t>
            </a:r>
            <a:endParaRPr b="1" i="0" sz="1000" u="none" cap="none" strike="noStrike">
              <a:solidFill>
                <a:srgbClr val="000000"/>
              </a:solidFill>
              <a:highlight>
                <a:srgbClr val="FFF0B8"/>
              </a:highlight>
              <a:latin typeface="Barlow"/>
              <a:ea typeface="Barlow"/>
              <a:cs typeface="Barlow"/>
              <a:sym typeface="Barlow"/>
            </a:endParaRPr>
          </a:p>
        </p:txBody>
      </p:sp>
      <p:sp>
        <p:nvSpPr>
          <p:cNvPr id="110" name="Google Shape;110;p1"/>
          <p:cNvSpPr/>
          <p:nvPr/>
        </p:nvSpPr>
        <p:spPr>
          <a:xfrm>
            <a:off x="3717000" y="5003650"/>
            <a:ext cx="338400" cy="91500"/>
          </a:xfrm>
          <a:prstGeom prst="rightArrow">
            <a:avLst>
              <a:gd fmla="val 17338" name="adj1"/>
              <a:gd fmla="val 133060" name="adj2"/>
            </a:avLst>
          </a:prstGeom>
          <a:solidFill>
            <a:srgbClr val="2F9E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highlight>
                  <a:srgbClr val="FFF0B8"/>
                </a:highlight>
                <a:latin typeface="Barlow"/>
                <a:ea typeface="Barlow"/>
                <a:cs typeface="Barlow"/>
                <a:sym typeface="Barlow"/>
              </a:rPr>
              <a:t>Y</a:t>
            </a:r>
            <a:endParaRPr b="1" i="0" sz="1000" u="none" cap="none" strike="noStrike">
              <a:solidFill>
                <a:srgbClr val="000000"/>
              </a:solidFill>
              <a:highlight>
                <a:srgbClr val="FFF0B8"/>
              </a:highlight>
              <a:latin typeface="Barlow"/>
              <a:ea typeface="Barlow"/>
              <a:cs typeface="Barlow"/>
              <a:sym typeface="Barlow"/>
            </a:endParaRPr>
          </a:p>
        </p:txBody>
      </p:sp>
      <p:sp>
        <p:nvSpPr>
          <p:cNvPr id="111" name="Google Shape;111;p1"/>
          <p:cNvSpPr/>
          <p:nvPr/>
        </p:nvSpPr>
        <p:spPr>
          <a:xfrm>
            <a:off x="3716950" y="5897850"/>
            <a:ext cx="338400" cy="91500"/>
          </a:xfrm>
          <a:prstGeom prst="rightArrow">
            <a:avLst>
              <a:gd fmla="val 17338" name="adj1"/>
              <a:gd fmla="val 133060" name="adj2"/>
            </a:avLst>
          </a:prstGeom>
          <a:solidFill>
            <a:srgbClr val="FE707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highlight>
                  <a:srgbClr val="FFEEB2"/>
                </a:highlight>
                <a:latin typeface="Barlow"/>
                <a:ea typeface="Barlow"/>
                <a:cs typeface="Barlow"/>
                <a:sym typeface="Barlow"/>
              </a:rPr>
              <a:t>N</a:t>
            </a:r>
            <a:endParaRPr b="1" i="0" sz="1000" u="none" cap="none" strike="noStrike">
              <a:solidFill>
                <a:srgbClr val="000000"/>
              </a:solidFill>
              <a:highlight>
                <a:srgbClr val="FFEEB2"/>
              </a:highlight>
              <a:latin typeface="Barlow"/>
              <a:ea typeface="Barlow"/>
              <a:cs typeface="Barlow"/>
              <a:sym typeface="Barlow"/>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5" name="Shape 115"/>
        <p:cNvGrpSpPr/>
        <p:nvPr/>
      </p:nvGrpSpPr>
      <p:grpSpPr>
        <a:xfrm>
          <a:off x="0" y="0"/>
          <a:ext cx="0" cy="0"/>
          <a:chOff x="0" y="0"/>
          <a:chExt cx="0" cy="0"/>
        </a:xfrm>
      </p:grpSpPr>
      <p:sp>
        <p:nvSpPr>
          <p:cNvPr id="116" name="Google Shape;116;p2"/>
          <p:cNvSpPr/>
          <p:nvPr/>
        </p:nvSpPr>
        <p:spPr>
          <a:xfrm>
            <a:off x="-4781550" y="0"/>
            <a:ext cx="13417500" cy="11887200"/>
          </a:xfrm>
          <a:prstGeom prst="rect">
            <a:avLst/>
          </a:prstGeom>
          <a:gradFill>
            <a:gsLst>
              <a:gs pos="0">
                <a:srgbClr val="FFF6D6"/>
              </a:gs>
              <a:gs pos="50000">
                <a:srgbClr val="FFEFB3"/>
              </a:gs>
              <a:gs pos="100000">
                <a:srgbClr val="FFE59D"/>
              </a:gs>
            </a:gsLst>
            <a:lin ang="5400700"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117" name="Google Shape;117;p2"/>
          <p:cNvGraphicFramePr/>
          <p:nvPr/>
        </p:nvGraphicFramePr>
        <p:xfrm>
          <a:off x="-2000575" y="186125"/>
          <a:ext cx="3000000" cy="3000000"/>
        </p:xfrm>
        <a:graphic>
          <a:graphicData uri="http://schemas.openxmlformats.org/drawingml/2006/table">
            <a:tbl>
              <a:tblPr>
                <a:noFill/>
                <a:tableStyleId>{4F56B034-4C61-4C8F-8454-8E3EE46E3D2D}</a:tableStyleId>
              </a:tblPr>
              <a:tblGrid>
                <a:gridCol w="1589375"/>
                <a:gridCol w="6618875"/>
              </a:tblGrid>
              <a:tr h="3536650">
                <a:tc>
                  <a:txBody>
                    <a:bodyPr/>
                    <a:lstStyle/>
                    <a:p>
                      <a:pPr indent="0" lvl="0" marL="0" marR="0" rtl="0" algn="l">
                        <a:lnSpc>
                          <a:spcPct val="100000"/>
                        </a:lnSpc>
                        <a:spcBef>
                          <a:spcPts val="0"/>
                        </a:spcBef>
                        <a:spcAft>
                          <a:spcPts val="0"/>
                        </a:spcAft>
                        <a:buClr>
                          <a:srgbClr val="000000"/>
                        </a:buClr>
                        <a:buSzPts val="1400"/>
                        <a:buFont typeface="Arial"/>
                        <a:buNone/>
                      </a:pPr>
                      <a:r>
                        <a:rPr b="1" lang="en" sz="2900" u="none" cap="none" strike="noStrike">
                          <a:solidFill>
                            <a:srgbClr val="FFFFFF"/>
                          </a:solidFill>
                          <a:latin typeface="Barlow"/>
                          <a:ea typeface="Barlow"/>
                          <a:cs typeface="Barlow"/>
                          <a:sym typeface="Barlow"/>
                        </a:rPr>
                        <a:t>CATEGORY I</a:t>
                      </a:r>
                      <a:endParaRPr sz="29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CFE8F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5B9BD5"/>
                    </a:solidFill>
                  </a:tcPr>
                </a:tc>
                <a:tc>
                  <a:txBody>
                    <a:bodyPr/>
                    <a:lstStyle/>
                    <a:p>
                      <a:pPr indent="-234950" lvl="0" marL="228600" marR="0" rtl="0" algn="l">
                        <a:lnSpc>
                          <a:spcPct val="100000"/>
                        </a:lnSpc>
                        <a:spcBef>
                          <a:spcPts val="0"/>
                        </a:spcBef>
                        <a:spcAft>
                          <a:spcPts val="0"/>
                        </a:spcAft>
                        <a:buClr>
                          <a:srgbClr val="000000"/>
                        </a:buClr>
                        <a:buSzPts val="2500"/>
                        <a:buFont typeface="Barlow Medium"/>
                        <a:buAutoNum type="alphaLcPeriod"/>
                      </a:pPr>
                      <a:r>
                        <a:rPr i="1" lang="en" sz="2500" u="none" cap="none" strike="noStrike">
                          <a:solidFill>
                            <a:srgbClr val="000000"/>
                          </a:solidFill>
                          <a:latin typeface="Barlow Medium"/>
                          <a:ea typeface="Barlow Medium"/>
                          <a:cs typeface="Barlow Medium"/>
                          <a:sym typeface="Barlow Medium"/>
                        </a:rPr>
                        <a:t>Feeding/ touching an animal</a:t>
                      </a:r>
                      <a:endParaRPr i="1" sz="2500" u="none" cap="none" strike="noStrike">
                        <a:solidFill>
                          <a:srgbClr val="000000"/>
                        </a:solidFill>
                        <a:latin typeface="Barlow Medium"/>
                        <a:ea typeface="Barlow Medium"/>
                        <a:cs typeface="Barlow Medium"/>
                        <a:sym typeface="Barlow Medium"/>
                      </a:endParaRPr>
                    </a:p>
                    <a:p>
                      <a:pPr indent="-234950" lvl="0" marL="228600" marR="0" rtl="0" algn="l">
                        <a:lnSpc>
                          <a:spcPct val="100000"/>
                        </a:lnSpc>
                        <a:spcBef>
                          <a:spcPts val="0"/>
                        </a:spcBef>
                        <a:spcAft>
                          <a:spcPts val="0"/>
                        </a:spcAft>
                        <a:buClr>
                          <a:srgbClr val="000000"/>
                        </a:buClr>
                        <a:buSzPts val="2500"/>
                        <a:buFont typeface="Barlow Medium"/>
                        <a:buAutoNum type="alphaLcPeriod"/>
                      </a:pPr>
                      <a:r>
                        <a:rPr i="1" lang="en" sz="2500" u="none" cap="none" strike="noStrike">
                          <a:solidFill>
                            <a:srgbClr val="000000"/>
                          </a:solidFill>
                          <a:latin typeface="Barlow Medium"/>
                          <a:ea typeface="Barlow Medium"/>
                          <a:cs typeface="Barlow Medium"/>
                          <a:sym typeface="Barlow Medium"/>
                        </a:rPr>
                        <a:t>Licking of intact skin with reliable history and thorough physical examination</a:t>
                      </a:r>
                      <a:endParaRPr i="1" sz="2500" u="none" cap="none" strike="noStrike">
                        <a:solidFill>
                          <a:srgbClr val="000000"/>
                        </a:solidFill>
                        <a:latin typeface="Barlow Medium"/>
                        <a:ea typeface="Barlow Medium"/>
                        <a:cs typeface="Barlow Medium"/>
                        <a:sym typeface="Barlow Medium"/>
                      </a:endParaRPr>
                    </a:p>
                    <a:p>
                      <a:pPr indent="-234950" lvl="0" marL="228600" marR="0" rtl="0" algn="l">
                        <a:lnSpc>
                          <a:spcPct val="100000"/>
                        </a:lnSpc>
                        <a:spcBef>
                          <a:spcPts val="0"/>
                        </a:spcBef>
                        <a:spcAft>
                          <a:spcPts val="0"/>
                        </a:spcAft>
                        <a:buClr>
                          <a:srgbClr val="000000"/>
                        </a:buClr>
                        <a:buSzPts val="2500"/>
                        <a:buFont typeface="Barlow Medium"/>
                        <a:buAutoNum type="alphaLcPeriod"/>
                      </a:pPr>
                      <a:r>
                        <a:rPr i="1" lang="en" sz="2500" u="none" cap="none" strike="noStrike">
                          <a:solidFill>
                            <a:srgbClr val="000000"/>
                          </a:solidFill>
                          <a:latin typeface="Barlow Medium"/>
                          <a:ea typeface="Barlow Medium"/>
                          <a:cs typeface="Barlow Medium"/>
                          <a:sym typeface="Barlow Medium"/>
                        </a:rPr>
                        <a:t>Exposure to patient with signs and symptoms of rabies by sharing of eating or drinking utensils</a:t>
                      </a:r>
                      <a:endParaRPr i="1" sz="2500" u="none" cap="none" strike="noStrike">
                        <a:solidFill>
                          <a:srgbClr val="000000"/>
                        </a:solidFill>
                        <a:latin typeface="Barlow Medium"/>
                        <a:ea typeface="Barlow Medium"/>
                        <a:cs typeface="Barlow Medium"/>
                        <a:sym typeface="Barlow Medium"/>
                      </a:endParaRPr>
                    </a:p>
                    <a:p>
                      <a:pPr indent="-234950" lvl="0" marL="228600" marR="0" rtl="0" algn="l">
                        <a:lnSpc>
                          <a:spcPct val="100000"/>
                        </a:lnSpc>
                        <a:spcBef>
                          <a:spcPts val="0"/>
                        </a:spcBef>
                        <a:spcAft>
                          <a:spcPts val="0"/>
                        </a:spcAft>
                        <a:buClr>
                          <a:srgbClr val="000000"/>
                        </a:buClr>
                        <a:buSzPts val="2500"/>
                        <a:buFont typeface="Barlow Medium"/>
                        <a:buAutoNum type="alphaLcPeriod"/>
                      </a:pPr>
                      <a:r>
                        <a:rPr i="1" lang="en" sz="2500" u="none" cap="none" strike="noStrike">
                          <a:solidFill>
                            <a:srgbClr val="000000"/>
                          </a:solidFill>
                          <a:latin typeface="Barlow Medium"/>
                          <a:ea typeface="Barlow Medium"/>
                          <a:cs typeface="Barlow Medium"/>
                          <a:sym typeface="Barlow Medium"/>
                        </a:rPr>
                        <a:t>Casual contact such as talking to, visiting, and feeding suspected rabies cases, and routine delivery of health care to patient with signs and symptoms of rabies</a:t>
                      </a:r>
                      <a:endParaRPr sz="2500" u="none" cap="none" strike="noStrike"/>
                    </a:p>
                  </a:txBody>
                  <a:tcPr marT="91425" marB="91425" marR="91425" marL="91425">
                    <a:lnL cap="flat" cmpd="sng" w="9525">
                      <a:solidFill>
                        <a:srgbClr val="CFE8FF">
                          <a:alpha val="0"/>
                        </a:srgbClr>
                      </a:solidFill>
                      <a:prstDash val="solid"/>
                      <a:round/>
                      <a:headEnd len="sm" w="sm" type="none"/>
                      <a:tailEnd len="sm" w="sm" type="none"/>
                    </a:lnL>
                    <a:lnR cap="flat" cmpd="sng" w="9525">
                      <a:solidFill>
                        <a:srgbClr val="CFE8FF">
                          <a:alpha val="0"/>
                        </a:srgbClr>
                      </a:solidFill>
                      <a:prstDash val="solid"/>
                      <a:round/>
                      <a:headEnd len="sm" w="sm" type="none"/>
                      <a:tailEnd len="sm" w="sm" type="none"/>
                    </a:lnR>
                    <a:lnT cap="flat" cmpd="sng" w="9525">
                      <a:solidFill>
                        <a:srgbClr val="CFE8FF">
                          <a:alpha val="0"/>
                        </a:srgbClr>
                      </a:solidFill>
                      <a:prstDash val="solid"/>
                      <a:round/>
                      <a:headEnd len="sm" w="sm" type="none"/>
                      <a:tailEnd len="sm" w="sm" type="none"/>
                    </a:lnT>
                    <a:lnB cap="flat" cmpd="sng" w="9525">
                      <a:solidFill>
                        <a:srgbClr val="CFE8FF">
                          <a:alpha val="0"/>
                        </a:srgbClr>
                      </a:solidFill>
                      <a:prstDash val="solid"/>
                      <a:round/>
                      <a:headEnd len="sm" w="sm" type="none"/>
                      <a:tailEnd len="sm" w="sm" type="none"/>
                    </a:lnB>
                    <a:solidFill>
                      <a:srgbClr val="CFE8FF"/>
                    </a:solidFill>
                  </a:tcPr>
                </a:tc>
              </a:tr>
              <a:tr h="1990550">
                <a:tc>
                  <a:txBody>
                    <a:bodyPr/>
                    <a:lstStyle/>
                    <a:p>
                      <a:pPr indent="0" lvl="0" marL="0" marR="0" rtl="0" algn="l">
                        <a:lnSpc>
                          <a:spcPct val="100000"/>
                        </a:lnSpc>
                        <a:spcBef>
                          <a:spcPts val="0"/>
                        </a:spcBef>
                        <a:spcAft>
                          <a:spcPts val="0"/>
                        </a:spcAft>
                        <a:buClr>
                          <a:srgbClr val="000000"/>
                        </a:buClr>
                        <a:buSzPts val="1400"/>
                        <a:buFont typeface="Arial"/>
                        <a:buNone/>
                      </a:pPr>
                      <a:r>
                        <a:rPr b="1" lang="en" sz="2900" u="none" cap="none" strike="noStrike">
                          <a:solidFill>
                            <a:srgbClr val="FFFFFF"/>
                          </a:solidFill>
                          <a:latin typeface="Barlow"/>
                          <a:ea typeface="Barlow"/>
                          <a:cs typeface="Barlow"/>
                          <a:sym typeface="Barlow"/>
                        </a:rPr>
                        <a:t>CATEGORY II</a:t>
                      </a:r>
                      <a:endParaRPr sz="29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2B600"/>
                    </a:solidFill>
                  </a:tcPr>
                </a:tc>
                <a:tc>
                  <a:txBody>
                    <a:bodyPr/>
                    <a:lstStyle/>
                    <a:p>
                      <a:pPr indent="-234950" lvl="0" marL="228600" marR="0" rtl="0" algn="l">
                        <a:lnSpc>
                          <a:spcPct val="100000"/>
                        </a:lnSpc>
                        <a:spcBef>
                          <a:spcPts val="0"/>
                        </a:spcBef>
                        <a:spcAft>
                          <a:spcPts val="0"/>
                        </a:spcAft>
                        <a:buClr>
                          <a:srgbClr val="000000"/>
                        </a:buClr>
                        <a:buSzPts val="2500"/>
                        <a:buFont typeface="Barlow Medium"/>
                        <a:buAutoNum type="alphaLcPeriod"/>
                      </a:pPr>
                      <a:r>
                        <a:rPr i="1" lang="en" sz="2500" u="none" cap="none" strike="noStrike">
                          <a:solidFill>
                            <a:srgbClr val="000000"/>
                          </a:solidFill>
                          <a:latin typeface="Barlow Medium"/>
                          <a:ea typeface="Barlow Medium"/>
                          <a:cs typeface="Barlow Medium"/>
                          <a:sym typeface="Barlow Medium"/>
                        </a:rPr>
                        <a:t>Nibbling of uncovered skin with or without bruising/ hematoma NOT in the head and neck area</a:t>
                      </a:r>
                      <a:endParaRPr i="1" sz="2500" u="none" cap="none" strike="noStrike">
                        <a:solidFill>
                          <a:srgbClr val="000000"/>
                        </a:solidFill>
                        <a:latin typeface="Barlow Medium"/>
                        <a:ea typeface="Barlow Medium"/>
                        <a:cs typeface="Barlow Medium"/>
                        <a:sym typeface="Barlow Medium"/>
                      </a:endParaRPr>
                    </a:p>
                    <a:p>
                      <a:pPr indent="-234950" lvl="0" marL="228600" marR="0" rtl="0" algn="l">
                        <a:lnSpc>
                          <a:spcPct val="100000"/>
                        </a:lnSpc>
                        <a:spcBef>
                          <a:spcPts val="0"/>
                        </a:spcBef>
                        <a:spcAft>
                          <a:spcPts val="0"/>
                        </a:spcAft>
                        <a:buClr>
                          <a:srgbClr val="000000"/>
                        </a:buClr>
                        <a:buSzPts val="2500"/>
                        <a:buFont typeface="Barlow Medium"/>
                        <a:buAutoNum type="alphaLcPeriod"/>
                      </a:pPr>
                      <a:r>
                        <a:rPr i="1" lang="en" sz="2500" u="none" cap="none" strike="noStrike">
                          <a:solidFill>
                            <a:srgbClr val="000000"/>
                          </a:solidFill>
                          <a:latin typeface="Barlow Medium"/>
                          <a:ea typeface="Barlow Medium"/>
                          <a:cs typeface="Barlow Medium"/>
                          <a:sym typeface="Barlow Medium"/>
                        </a:rPr>
                        <a:t>Minor/ superficial scratches/ abrasions without bleeding, including those induced to bleed  NOT in the head and neck area</a:t>
                      </a:r>
                      <a:endParaRPr sz="25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CFE8FF">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6D6"/>
                    </a:solidFill>
                  </a:tcPr>
                </a:tc>
              </a:tr>
              <a:tr h="5259800">
                <a:tc>
                  <a:txBody>
                    <a:bodyPr/>
                    <a:lstStyle/>
                    <a:p>
                      <a:pPr indent="0" lvl="0" marL="0" marR="0" rtl="0" algn="l">
                        <a:lnSpc>
                          <a:spcPct val="100000"/>
                        </a:lnSpc>
                        <a:spcBef>
                          <a:spcPts val="0"/>
                        </a:spcBef>
                        <a:spcAft>
                          <a:spcPts val="0"/>
                        </a:spcAft>
                        <a:buClr>
                          <a:srgbClr val="000000"/>
                        </a:buClr>
                        <a:buSzPts val="1400"/>
                        <a:buFont typeface="Arial"/>
                        <a:buNone/>
                      </a:pPr>
                      <a:r>
                        <a:rPr b="1" lang="en" sz="2900" u="none" cap="none" strike="noStrike">
                          <a:solidFill>
                            <a:srgbClr val="FFFFFF"/>
                          </a:solidFill>
                          <a:latin typeface="Barlow"/>
                          <a:ea typeface="Barlow"/>
                          <a:cs typeface="Barlow"/>
                          <a:sym typeface="Barlow"/>
                        </a:rPr>
                        <a:t>CATEGORY III</a:t>
                      </a:r>
                      <a:endParaRPr sz="29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29F67"/>
                    </a:solidFill>
                  </a:tcPr>
                </a:tc>
                <a:tc>
                  <a:txBody>
                    <a:bodyPr/>
                    <a:lstStyle/>
                    <a:p>
                      <a:pPr indent="-234950" lvl="0" marL="228600" marR="0" rtl="0" algn="l">
                        <a:lnSpc>
                          <a:spcPct val="100000"/>
                        </a:lnSpc>
                        <a:spcBef>
                          <a:spcPts val="0"/>
                        </a:spcBef>
                        <a:spcAft>
                          <a:spcPts val="0"/>
                        </a:spcAft>
                        <a:buClr>
                          <a:srgbClr val="000000"/>
                        </a:buClr>
                        <a:buSzPts val="2500"/>
                        <a:buFont typeface="Barlow Medium"/>
                        <a:buAutoNum type="alphaLcPeriod"/>
                      </a:pPr>
                      <a:r>
                        <a:rPr i="1" lang="en" sz="2500" u="none" cap="none" strike="noStrike">
                          <a:solidFill>
                            <a:srgbClr val="000000"/>
                          </a:solidFill>
                          <a:latin typeface="Barlow Medium"/>
                          <a:ea typeface="Barlow Medium"/>
                          <a:cs typeface="Barlow Medium"/>
                          <a:sym typeface="Barlow Medium"/>
                        </a:rPr>
                        <a:t>Transdermal bites (puncture wounds, lacerations, avulsions) or scratches/ abrasions with spontaneous bleeding</a:t>
                      </a:r>
                      <a:endParaRPr i="1" sz="2500" u="none" cap="none" strike="noStrike">
                        <a:solidFill>
                          <a:srgbClr val="000000"/>
                        </a:solidFill>
                        <a:latin typeface="Barlow Medium"/>
                        <a:ea typeface="Barlow Medium"/>
                        <a:cs typeface="Barlow Medium"/>
                        <a:sym typeface="Barlow Medium"/>
                      </a:endParaRPr>
                    </a:p>
                    <a:p>
                      <a:pPr indent="-234950" lvl="0" marL="228600" marR="0" rtl="0" algn="l">
                        <a:lnSpc>
                          <a:spcPct val="100000"/>
                        </a:lnSpc>
                        <a:spcBef>
                          <a:spcPts val="0"/>
                        </a:spcBef>
                        <a:spcAft>
                          <a:spcPts val="0"/>
                        </a:spcAft>
                        <a:buClr>
                          <a:srgbClr val="000000"/>
                        </a:buClr>
                        <a:buSzPts val="2500"/>
                        <a:buFont typeface="Barlow Medium"/>
                        <a:buAutoNum type="alphaLcPeriod"/>
                      </a:pPr>
                      <a:r>
                        <a:rPr i="1" lang="en" sz="2500" u="none" cap="none" strike="noStrike">
                          <a:solidFill>
                            <a:srgbClr val="000000"/>
                          </a:solidFill>
                          <a:latin typeface="Barlow Medium"/>
                          <a:ea typeface="Barlow Medium"/>
                          <a:cs typeface="Barlow Medium"/>
                          <a:sym typeface="Barlow Medium"/>
                        </a:rPr>
                        <a:t>Licks on broken skin or mucous membrane</a:t>
                      </a:r>
                      <a:endParaRPr i="1" sz="2500" u="none" cap="none" strike="noStrike">
                        <a:solidFill>
                          <a:srgbClr val="000000"/>
                        </a:solidFill>
                        <a:latin typeface="Barlow Medium"/>
                        <a:ea typeface="Barlow Medium"/>
                        <a:cs typeface="Barlow Medium"/>
                        <a:sym typeface="Barlow Medium"/>
                      </a:endParaRPr>
                    </a:p>
                    <a:p>
                      <a:pPr indent="-234950" lvl="0" marL="228600" marR="0" rtl="0" algn="l">
                        <a:lnSpc>
                          <a:spcPct val="100000"/>
                        </a:lnSpc>
                        <a:spcBef>
                          <a:spcPts val="0"/>
                        </a:spcBef>
                        <a:spcAft>
                          <a:spcPts val="0"/>
                        </a:spcAft>
                        <a:buClr>
                          <a:srgbClr val="000000"/>
                        </a:buClr>
                        <a:buSzPts val="2500"/>
                        <a:buFont typeface="Barlow Medium"/>
                        <a:buAutoNum type="alphaLcPeriod"/>
                      </a:pPr>
                      <a:r>
                        <a:rPr i="1" lang="en" sz="2500" u="none" cap="none" strike="noStrike">
                          <a:solidFill>
                            <a:srgbClr val="000000"/>
                          </a:solidFill>
                          <a:latin typeface="Barlow Medium"/>
                          <a:ea typeface="Barlow Medium"/>
                          <a:cs typeface="Barlow Medium"/>
                          <a:sym typeface="Barlow Medium"/>
                        </a:rPr>
                        <a:t>Exposure to a rabies patient through bites, contamination of mucous membranes such as eyes, oral/ nasal mucosa, genital/ anal mucous membrane, or open skin lesions with body fluids through splattering and mouth-to-mouth resuscitation</a:t>
                      </a:r>
                      <a:endParaRPr i="1" sz="2500" u="none" cap="none" strike="noStrike">
                        <a:solidFill>
                          <a:srgbClr val="000000"/>
                        </a:solidFill>
                        <a:latin typeface="Barlow Medium"/>
                        <a:ea typeface="Barlow Medium"/>
                        <a:cs typeface="Barlow Medium"/>
                        <a:sym typeface="Barlow Medium"/>
                      </a:endParaRPr>
                    </a:p>
                    <a:p>
                      <a:pPr indent="-234950" lvl="0" marL="228600" marR="0" rtl="0" algn="l">
                        <a:lnSpc>
                          <a:spcPct val="100000"/>
                        </a:lnSpc>
                        <a:spcBef>
                          <a:spcPts val="0"/>
                        </a:spcBef>
                        <a:spcAft>
                          <a:spcPts val="0"/>
                        </a:spcAft>
                        <a:buClr>
                          <a:srgbClr val="000000"/>
                        </a:buClr>
                        <a:buSzPts val="2500"/>
                        <a:buFont typeface="Barlow Medium"/>
                        <a:buAutoNum type="alphaLcPeriod"/>
                      </a:pPr>
                      <a:r>
                        <a:rPr i="1" lang="en" sz="2500" u="none" cap="none" strike="noStrike">
                          <a:solidFill>
                            <a:srgbClr val="000000"/>
                          </a:solidFill>
                          <a:latin typeface="Barlow Medium"/>
                          <a:ea typeface="Barlow Medium"/>
                          <a:cs typeface="Barlow Medium"/>
                          <a:sym typeface="Barlow Medium"/>
                        </a:rPr>
                        <a:t>Unprotected handling of infected carcass</a:t>
                      </a:r>
                      <a:endParaRPr i="1" sz="2500" u="none" cap="none" strike="noStrike">
                        <a:solidFill>
                          <a:srgbClr val="000000"/>
                        </a:solidFill>
                        <a:latin typeface="Barlow Medium"/>
                        <a:ea typeface="Barlow Medium"/>
                        <a:cs typeface="Barlow Medium"/>
                        <a:sym typeface="Barlow Medium"/>
                      </a:endParaRPr>
                    </a:p>
                    <a:p>
                      <a:pPr indent="-234950" lvl="0" marL="228600" marR="0" rtl="0" algn="l">
                        <a:lnSpc>
                          <a:spcPct val="100000"/>
                        </a:lnSpc>
                        <a:spcBef>
                          <a:spcPts val="0"/>
                        </a:spcBef>
                        <a:spcAft>
                          <a:spcPts val="0"/>
                        </a:spcAft>
                        <a:buClr>
                          <a:srgbClr val="000000"/>
                        </a:buClr>
                        <a:buSzPts val="2500"/>
                        <a:buFont typeface="Barlow Medium"/>
                        <a:buAutoNum type="alphaLcPeriod"/>
                      </a:pPr>
                      <a:r>
                        <a:rPr i="1" lang="en" sz="2500" u="none" cap="none" strike="noStrike">
                          <a:solidFill>
                            <a:srgbClr val="000000"/>
                          </a:solidFill>
                          <a:latin typeface="Barlow Medium"/>
                          <a:ea typeface="Barlow Medium"/>
                          <a:cs typeface="Barlow Medium"/>
                          <a:sym typeface="Barlow Medium"/>
                        </a:rPr>
                        <a:t>Ingestion of raw infected meat</a:t>
                      </a:r>
                      <a:endParaRPr i="1" sz="2500" u="none" cap="none" strike="noStrike">
                        <a:solidFill>
                          <a:srgbClr val="000000"/>
                        </a:solidFill>
                        <a:latin typeface="Barlow Medium"/>
                        <a:ea typeface="Barlow Medium"/>
                        <a:cs typeface="Barlow Medium"/>
                        <a:sym typeface="Barlow Medium"/>
                      </a:endParaRPr>
                    </a:p>
                    <a:p>
                      <a:pPr indent="-234950" lvl="0" marL="228600" marR="0" rtl="0" algn="l">
                        <a:lnSpc>
                          <a:spcPct val="100000"/>
                        </a:lnSpc>
                        <a:spcBef>
                          <a:spcPts val="0"/>
                        </a:spcBef>
                        <a:spcAft>
                          <a:spcPts val="0"/>
                        </a:spcAft>
                        <a:buClr>
                          <a:srgbClr val="000000"/>
                        </a:buClr>
                        <a:buSzPts val="2500"/>
                        <a:buFont typeface="Barlow Medium"/>
                        <a:buAutoNum type="alphaLcPeriod"/>
                      </a:pPr>
                      <a:r>
                        <a:rPr i="1" lang="en" sz="2500" u="none" cap="none" strike="noStrike">
                          <a:solidFill>
                            <a:srgbClr val="000000"/>
                          </a:solidFill>
                          <a:latin typeface="Barlow Medium"/>
                          <a:ea typeface="Barlow Medium"/>
                          <a:cs typeface="Barlow Medium"/>
                          <a:sym typeface="Barlow Medium"/>
                        </a:rPr>
                        <a:t>Exposures due to direct contact with bats (touching, bite, scratch, or mucous membrane contact) </a:t>
                      </a:r>
                      <a:endParaRPr i="1" sz="2500" u="none" cap="none" strike="noStrike">
                        <a:solidFill>
                          <a:srgbClr val="000000"/>
                        </a:solidFill>
                        <a:latin typeface="Barlow Medium"/>
                        <a:ea typeface="Barlow Medium"/>
                        <a:cs typeface="Barlow Medium"/>
                        <a:sym typeface="Barlow Medium"/>
                      </a:endParaRPr>
                    </a:p>
                    <a:p>
                      <a:pPr indent="-234950" lvl="0" marL="228600" marR="0" rtl="0" algn="l">
                        <a:lnSpc>
                          <a:spcPct val="100000"/>
                        </a:lnSpc>
                        <a:spcBef>
                          <a:spcPts val="0"/>
                        </a:spcBef>
                        <a:spcAft>
                          <a:spcPts val="0"/>
                        </a:spcAft>
                        <a:buClr>
                          <a:srgbClr val="000000"/>
                        </a:buClr>
                        <a:buSzPts val="2500"/>
                        <a:buFont typeface="Barlow Medium"/>
                        <a:buAutoNum type="alphaLcPeriod"/>
                      </a:pPr>
                      <a:r>
                        <a:rPr i="1" lang="en" sz="2500" u="none" cap="none" strike="noStrike">
                          <a:solidFill>
                            <a:srgbClr val="000000"/>
                          </a:solidFill>
                          <a:latin typeface="Barlow Medium"/>
                          <a:ea typeface="Barlow Medium"/>
                          <a:cs typeface="Barlow Medium"/>
                          <a:sym typeface="Barlow Medium"/>
                        </a:rPr>
                        <a:t>Category II exposures on head and neck area</a:t>
                      </a:r>
                      <a:endParaRPr sz="25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D8B5"/>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1" name="Shape 121"/>
        <p:cNvGrpSpPr/>
        <p:nvPr/>
      </p:nvGrpSpPr>
      <p:grpSpPr>
        <a:xfrm>
          <a:off x="0" y="0"/>
          <a:ext cx="0" cy="0"/>
          <a:chOff x="0" y="0"/>
          <a:chExt cx="0" cy="0"/>
        </a:xfrm>
      </p:grpSpPr>
      <p:sp>
        <p:nvSpPr>
          <p:cNvPr id="122" name="Google Shape;122;p3"/>
          <p:cNvSpPr/>
          <p:nvPr/>
        </p:nvSpPr>
        <p:spPr>
          <a:xfrm>
            <a:off x="457200" y="345525"/>
            <a:ext cx="1463100" cy="548700"/>
          </a:xfrm>
          <a:prstGeom prst="flowChartAlternateProcess">
            <a:avLst/>
          </a:prstGeom>
          <a:solidFill>
            <a:srgbClr val="E6D9F7"/>
          </a:solidFill>
          <a:ln cap="flat" cmpd="sng" w="19050">
            <a:solidFill>
              <a:srgbClr val="7F5BB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Barlow Medium"/>
                <a:ea typeface="Barlow Medium"/>
                <a:cs typeface="Barlow Medium"/>
                <a:sym typeface="Barlow Medium"/>
              </a:rPr>
              <a:t>Patient presenting with </a:t>
            </a:r>
            <a:r>
              <a:rPr b="1" i="0" lang="en" sz="900" u="none" cap="none" strike="noStrike">
                <a:solidFill>
                  <a:schemeClr val="dk1"/>
                </a:solidFill>
                <a:latin typeface="Barlow"/>
                <a:ea typeface="Barlow"/>
                <a:cs typeface="Barlow"/>
                <a:sym typeface="Barlow"/>
              </a:rPr>
              <a:t>potential rabies exposure</a:t>
            </a:r>
            <a:endParaRPr b="1" i="0" sz="1400" u="none" cap="none" strike="noStrike">
              <a:solidFill>
                <a:srgbClr val="000000"/>
              </a:solidFill>
              <a:latin typeface="Arial"/>
              <a:ea typeface="Arial"/>
              <a:cs typeface="Arial"/>
              <a:sym typeface="Arial"/>
            </a:endParaRPr>
          </a:p>
        </p:txBody>
      </p:sp>
      <p:sp>
        <p:nvSpPr>
          <p:cNvPr id="123" name="Google Shape;123;p3"/>
          <p:cNvSpPr/>
          <p:nvPr/>
        </p:nvSpPr>
        <p:spPr>
          <a:xfrm>
            <a:off x="1143000" y="894235"/>
            <a:ext cx="91500" cy="338400"/>
          </a:xfrm>
          <a:prstGeom prst="downArrow">
            <a:avLst>
              <a:gd fmla="val 18525" name="adj1"/>
              <a:gd fmla="val 133060" name="adj2"/>
            </a:avLst>
          </a:prstGeom>
          <a:solidFill>
            <a:schemeClr val="dk2"/>
          </a:solidFill>
          <a:ln>
            <a:noFill/>
          </a:ln>
        </p:spPr>
        <p:txBody>
          <a:bodyPr anchorCtr="0" anchor="t"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t/>
            </a:r>
            <a:endParaRPr b="1" i="0" sz="1000" u="none" cap="none" strike="noStrike">
              <a:solidFill>
                <a:srgbClr val="000000"/>
              </a:solidFill>
              <a:highlight>
                <a:schemeClr val="lt1"/>
              </a:highlight>
              <a:latin typeface="Barlow"/>
              <a:ea typeface="Barlow"/>
              <a:cs typeface="Barlow"/>
              <a:sym typeface="Barlow"/>
            </a:endParaRPr>
          </a:p>
        </p:txBody>
      </p:sp>
      <p:sp>
        <p:nvSpPr>
          <p:cNvPr id="124" name="Google Shape;124;p3"/>
          <p:cNvSpPr/>
          <p:nvPr/>
        </p:nvSpPr>
        <p:spPr>
          <a:xfrm>
            <a:off x="457225" y="1231463"/>
            <a:ext cx="1463050" cy="548640"/>
          </a:xfrm>
          <a:prstGeom prst="flowChartPreparation">
            <a:avLst/>
          </a:prstGeom>
          <a:solidFill>
            <a:srgbClr val="CFF4D2"/>
          </a:solidFill>
          <a:ln cap="flat" cmpd="sng" w="19050">
            <a:solidFill>
              <a:srgbClr val="5DAE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Barlow Medium"/>
                <a:ea typeface="Barlow Medium"/>
                <a:cs typeface="Barlow Medium"/>
                <a:sym typeface="Barlow Medium"/>
              </a:rPr>
              <a:t>Exposure from a </a:t>
            </a:r>
            <a:r>
              <a:rPr b="1" i="0" lang="en" sz="900" u="none" cap="none" strike="noStrike">
                <a:solidFill>
                  <a:schemeClr val="dk1"/>
                </a:solidFill>
                <a:latin typeface="Barlow"/>
                <a:ea typeface="Barlow"/>
                <a:cs typeface="Barlow"/>
                <a:sym typeface="Barlow"/>
              </a:rPr>
              <a:t>dog</a:t>
            </a:r>
            <a:r>
              <a:rPr b="0" i="0" lang="en" sz="900" u="none" cap="none" strike="noStrike">
                <a:solidFill>
                  <a:schemeClr val="dk1"/>
                </a:solidFill>
                <a:latin typeface="Barlow Medium"/>
                <a:ea typeface="Barlow Medium"/>
                <a:cs typeface="Barlow Medium"/>
                <a:sym typeface="Barlow Medium"/>
              </a:rPr>
              <a:t>, </a:t>
            </a:r>
            <a:r>
              <a:rPr b="1" i="0" lang="en" sz="900" u="none" cap="none" strike="noStrike">
                <a:solidFill>
                  <a:schemeClr val="dk1"/>
                </a:solidFill>
                <a:latin typeface="Barlow"/>
                <a:ea typeface="Barlow"/>
                <a:cs typeface="Barlow"/>
                <a:sym typeface="Barlow"/>
              </a:rPr>
              <a:t>cat</a:t>
            </a:r>
            <a:r>
              <a:rPr b="0" i="0" lang="en" sz="900" u="none" cap="none" strike="noStrike">
                <a:solidFill>
                  <a:schemeClr val="dk1"/>
                </a:solidFill>
                <a:latin typeface="Barlow Medium"/>
                <a:ea typeface="Barlow Medium"/>
                <a:cs typeface="Barlow Medium"/>
                <a:sym typeface="Barlow Medium"/>
              </a:rPr>
              <a:t>, or other </a:t>
            </a:r>
            <a:r>
              <a:rPr b="1" i="0" lang="en" sz="900" u="none" cap="none" strike="noStrike">
                <a:solidFill>
                  <a:schemeClr val="dk1"/>
                </a:solidFill>
                <a:latin typeface="Barlow"/>
                <a:ea typeface="Barlow"/>
                <a:cs typeface="Barlow"/>
                <a:sym typeface="Barlow"/>
              </a:rPr>
              <a:t>rabies-susceptible</a:t>
            </a:r>
            <a:r>
              <a:rPr b="0" i="0" lang="en" sz="900" u="none" cap="none" strike="noStrike">
                <a:solidFill>
                  <a:schemeClr val="dk1"/>
                </a:solidFill>
                <a:latin typeface="Barlow Medium"/>
                <a:ea typeface="Barlow Medium"/>
                <a:cs typeface="Barlow Medium"/>
                <a:sym typeface="Barlow Medium"/>
              </a:rPr>
              <a:t> </a:t>
            </a:r>
            <a:r>
              <a:rPr b="1" i="0" lang="en" sz="900" u="none" cap="none" strike="noStrike">
                <a:solidFill>
                  <a:schemeClr val="dk1"/>
                </a:solidFill>
                <a:latin typeface="Barlow"/>
                <a:ea typeface="Barlow"/>
                <a:cs typeface="Barlow"/>
                <a:sym typeface="Barlow"/>
              </a:rPr>
              <a:t>mammal</a:t>
            </a:r>
            <a:r>
              <a:rPr b="1" baseline="30000" i="0" lang="en" sz="900" u="none" cap="none" strike="noStrike">
                <a:solidFill>
                  <a:schemeClr val="dk1"/>
                </a:solidFill>
                <a:latin typeface="Barlow"/>
                <a:ea typeface="Barlow"/>
                <a:cs typeface="Barlow"/>
                <a:sym typeface="Barlow"/>
              </a:rPr>
              <a:t>A</a:t>
            </a:r>
            <a:r>
              <a:rPr b="0" i="0" lang="en" sz="900" u="none" cap="none" strike="noStrike">
                <a:solidFill>
                  <a:schemeClr val="dk1"/>
                </a:solidFill>
                <a:latin typeface="Barlow Medium"/>
                <a:ea typeface="Barlow Medium"/>
                <a:cs typeface="Barlow Medium"/>
                <a:sym typeface="Barlow Medium"/>
              </a:rPr>
              <a:t>?</a:t>
            </a:r>
            <a:endParaRPr b="0" i="0" sz="1400" u="none" cap="none" strike="noStrike">
              <a:solidFill>
                <a:srgbClr val="000000"/>
              </a:solidFill>
              <a:latin typeface="Arial"/>
              <a:ea typeface="Arial"/>
              <a:cs typeface="Arial"/>
              <a:sym typeface="Arial"/>
            </a:endParaRPr>
          </a:p>
        </p:txBody>
      </p:sp>
      <p:sp>
        <p:nvSpPr>
          <p:cNvPr id="125" name="Google Shape;125;p3"/>
          <p:cNvSpPr/>
          <p:nvPr/>
        </p:nvSpPr>
        <p:spPr>
          <a:xfrm>
            <a:off x="1142950" y="1781135"/>
            <a:ext cx="91500" cy="338400"/>
          </a:xfrm>
          <a:prstGeom prst="downArrow">
            <a:avLst>
              <a:gd fmla="val 18525" name="adj1"/>
              <a:gd fmla="val 133060" name="adj2"/>
            </a:avLst>
          </a:prstGeom>
          <a:solidFill>
            <a:srgbClr val="2F9E44"/>
          </a:solidFill>
          <a:ln>
            <a:noFill/>
          </a:ln>
        </p:spPr>
        <p:txBody>
          <a:bodyPr anchorCtr="0" anchor="t"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000000"/>
                </a:solidFill>
                <a:highlight>
                  <a:schemeClr val="lt1"/>
                </a:highlight>
                <a:latin typeface="Barlow"/>
                <a:ea typeface="Barlow"/>
                <a:cs typeface="Barlow"/>
                <a:sym typeface="Barlow"/>
              </a:rPr>
              <a:t>Y</a:t>
            </a:r>
            <a:endParaRPr b="1" i="0" sz="1000" u="none" cap="none" strike="noStrike">
              <a:solidFill>
                <a:srgbClr val="000000"/>
              </a:solidFill>
              <a:highlight>
                <a:schemeClr val="lt1"/>
              </a:highlight>
              <a:latin typeface="Barlow"/>
              <a:ea typeface="Barlow"/>
              <a:cs typeface="Barlow"/>
              <a:sym typeface="Barlow"/>
            </a:endParaRPr>
          </a:p>
        </p:txBody>
      </p:sp>
      <p:sp>
        <p:nvSpPr>
          <p:cNvPr id="126" name="Google Shape;126;p3"/>
          <p:cNvSpPr/>
          <p:nvPr/>
        </p:nvSpPr>
        <p:spPr>
          <a:xfrm>
            <a:off x="457250" y="2117350"/>
            <a:ext cx="1463050" cy="548640"/>
          </a:xfrm>
          <a:prstGeom prst="flowChartPreparation">
            <a:avLst/>
          </a:prstGeom>
          <a:solidFill>
            <a:srgbClr val="CFF4D2"/>
          </a:solidFill>
          <a:ln cap="flat" cmpd="sng" w="19050">
            <a:solidFill>
              <a:srgbClr val="5DAE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Barlow Medium"/>
                <a:ea typeface="Barlow Medium"/>
                <a:cs typeface="Barlow Medium"/>
                <a:sym typeface="Barlow Medium"/>
              </a:rPr>
              <a:t>Exposure </a:t>
            </a:r>
            <a:r>
              <a:rPr b="1" i="0" lang="en" sz="900" u="none" cap="none" strike="noStrike">
                <a:solidFill>
                  <a:schemeClr val="dk1"/>
                </a:solidFill>
                <a:latin typeface="Barlow"/>
                <a:ea typeface="Barlow"/>
                <a:cs typeface="Barlow"/>
                <a:sym typeface="Barlow"/>
              </a:rPr>
              <a:t>&gt;14 days ago</a:t>
            </a:r>
            <a:r>
              <a:rPr b="0" i="0" lang="en" sz="900" u="none" cap="none" strike="noStrike">
                <a:solidFill>
                  <a:schemeClr val="dk1"/>
                </a:solidFill>
                <a:latin typeface="Barlow Medium"/>
                <a:ea typeface="Barlow Medium"/>
                <a:cs typeface="Barlow Medium"/>
                <a:sym typeface="Barlow Medium"/>
              </a:rPr>
              <a:t>?</a:t>
            </a:r>
            <a:endParaRPr b="0" i="0" sz="1400" u="none" cap="none" strike="noStrike">
              <a:solidFill>
                <a:srgbClr val="000000"/>
              </a:solidFill>
              <a:latin typeface="Barlow Medium"/>
              <a:ea typeface="Barlow Medium"/>
              <a:cs typeface="Barlow Medium"/>
              <a:sym typeface="Barlow Medium"/>
            </a:endParaRPr>
          </a:p>
        </p:txBody>
      </p:sp>
      <p:sp>
        <p:nvSpPr>
          <p:cNvPr id="127" name="Google Shape;127;p3"/>
          <p:cNvSpPr/>
          <p:nvPr/>
        </p:nvSpPr>
        <p:spPr>
          <a:xfrm>
            <a:off x="1920313" y="2345913"/>
            <a:ext cx="338400" cy="91500"/>
          </a:xfrm>
          <a:prstGeom prst="rightArrow">
            <a:avLst>
              <a:gd fmla="val 17338" name="adj1"/>
              <a:gd fmla="val 133060" name="adj2"/>
            </a:avLst>
          </a:prstGeom>
          <a:solidFill>
            <a:srgbClr val="2F9E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highlight>
                  <a:schemeClr val="lt1"/>
                </a:highlight>
                <a:latin typeface="Barlow"/>
                <a:ea typeface="Barlow"/>
                <a:cs typeface="Barlow"/>
                <a:sym typeface="Barlow"/>
              </a:rPr>
              <a:t>Y</a:t>
            </a:r>
            <a:endParaRPr b="1" i="0" sz="1000" u="none" cap="none" strike="noStrike">
              <a:solidFill>
                <a:srgbClr val="000000"/>
              </a:solidFill>
              <a:highlight>
                <a:schemeClr val="lt1"/>
              </a:highlight>
              <a:latin typeface="Barlow"/>
              <a:ea typeface="Barlow"/>
              <a:cs typeface="Barlow"/>
              <a:sym typeface="Barlow"/>
            </a:endParaRPr>
          </a:p>
        </p:txBody>
      </p:sp>
      <p:sp>
        <p:nvSpPr>
          <p:cNvPr id="128" name="Google Shape;128;p3"/>
          <p:cNvSpPr txBox="1"/>
          <p:nvPr/>
        </p:nvSpPr>
        <p:spPr>
          <a:xfrm>
            <a:off x="2258686" y="1231426"/>
            <a:ext cx="1463100" cy="548700"/>
          </a:xfrm>
          <a:prstGeom prst="rect">
            <a:avLst/>
          </a:prstGeom>
          <a:solidFill>
            <a:srgbClr val="CFE8FF"/>
          </a:solidFill>
          <a:ln cap="flat" cmpd="sng" w="19050">
            <a:solidFill>
              <a:srgbClr val="5B9B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Barlow Medium"/>
                <a:ea typeface="Barlow Medium"/>
                <a:cs typeface="Barlow Medium"/>
                <a:sym typeface="Barlow Medium"/>
              </a:rPr>
              <a:t>PEP </a:t>
            </a:r>
            <a:r>
              <a:rPr b="1" i="0" lang="en" sz="900" u="none" cap="none" strike="noStrike">
                <a:solidFill>
                  <a:schemeClr val="dk1"/>
                </a:solidFill>
                <a:latin typeface="Barlow"/>
                <a:ea typeface="Barlow"/>
                <a:cs typeface="Barlow"/>
                <a:sym typeface="Barlow"/>
              </a:rPr>
              <a:t>not </a:t>
            </a:r>
            <a:r>
              <a:rPr b="0" i="0" lang="en" sz="900" u="none" cap="none" strike="noStrike">
                <a:solidFill>
                  <a:schemeClr val="dk1"/>
                </a:solidFill>
                <a:latin typeface="Barlow Medium"/>
                <a:ea typeface="Barlow Medium"/>
                <a:cs typeface="Barlow Medium"/>
                <a:sym typeface="Barlow Medium"/>
              </a:rPr>
              <a:t>indicated</a:t>
            </a:r>
            <a:endParaRPr b="0" i="1" sz="900" u="none" cap="none" strike="noStrike">
              <a:solidFill>
                <a:schemeClr val="dk1"/>
              </a:solidFill>
              <a:latin typeface="Barlow Medium"/>
              <a:ea typeface="Barlow Medium"/>
              <a:cs typeface="Barlow Medium"/>
              <a:sym typeface="Barlow Medium"/>
            </a:endParaRPr>
          </a:p>
        </p:txBody>
      </p:sp>
      <p:sp>
        <p:nvSpPr>
          <p:cNvPr id="129" name="Google Shape;129;p3"/>
          <p:cNvSpPr/>
          <p:nvPr/>
        </p:nvSpPr>
        <p:spPr>
          <a:xfrm>
            <a:off x="2258750" y="2117363"/>
            <a:ext cx="1463050" cy="548640"/>
          </a:xfrm>
          <a:prstGeom prst="flowChartPreparation">
            <a:avLst/>
          </a:prstGeom>
          <a:solidFill>
            <a:srgbClr val="CFF4D2"/>
          </a:solidFill>
          <a:ln cap="flat" cmpd="sng" w="19050">
            <a:solidFill>
              <a:srgbClr val="5DAE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Barlow Medium"/>
                <a:ea typeface="Barlow Medium"/>
                <a:cs typeface="Barlow Medium"/>
                <a:sym typeface="Barlow Medium"/>
              </a:rPr>
              <a:t>Animal </a:t>
            </a:r>
            <a:r>
              <a:rPr b="1" i="0" lang="en" sz="900" u="none" cap="none" strike="noStrike">
                <a:solidFill>
                  <a:schemeClr val="dk1"/>
                </a:solidFill>
                <a:latin typeface="Barlow"/>
                <a:ea typeface="Barlow"/>
                <a:cs typeface="Barlow"/>
                <a:sym typeface="Barlow"/>
              </a:rPr>
              <a:t>alive </a:t>
            </a:r>
            <a:r>
              <a:rPr b="0" i="0" lang="en" sz="900" u="none" cap="none" strike="noStrike">
                <a:solidFill>
                  <a:schemeClr val="dk1"/>
                </a:solidFill>
                <a:latin typeface="Barlow Medium"/>
                <a:ea typeface="Barlow Medium"/>
                <a:cs typeface="Barlow Medium"/>
                <a:sym typeface="Barlow Medium"/>
              </a:rPr>
              <a:t>and healthy?</a:t>
            </a:r>
            <a:endParaRPr b="0" i="0" sz="1400" u="none" cap="none" strike="noStrike">
              <a:solidFill>
                <a:srgbClr val="000000"/>
              </a:solidFill>
              <a:latin typeface="Barlow Medium"/>
              <a:ea typeface="Barlow Medium"/>
              <a:cs typeface="Barlow Medium"/>
              <a:sym typeface="Barlow Medium"/>
            </a:endParaRPr>
          </a:p>
        </p:txBody>
      </p:sp>
      <p:sp>
        <p:nvSpPr>
          <p:cNvPr id="130" name="Google Shape;130;p3"/>
          <p:cNvSpPr/>
          <p:nvPr/>
        </p:nvSpPr>
        <p:spPr>
          <a:xfrm>
            <a:off x="3716950" y="2345938"/>
            <a:ext cx="338400" cy="91500"/>
          </a:xfrm>
          <a:prstGeom prst="rightArrow">
            <a:avLst>
              <a:gd fmla="val 17338" name="adj1"/>
              <a:gd fmla="val 133060" name="adj2"/>
            </a:avLst>
          </a:prstGeom>
          <a:solidFill>
            <a:srgbClr val="2F9E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highlight>
                  <a:schemeClr val="lt1"/>
                </a:highlight>
                <a:latin typeface="Barlow"/>
                <a:ea typeface="Barlow"/>
                <a:cs typeface="Barlow"/>
                <a:sym typeface="Barlow"/>
              </a:rPr>
              <a:t>Y</a:t>
            </a:r>
            <a:endParaRPr b="1" i="0" sz="1000" u="none" cap="none" strike="noStrike">
              <a:solidFill>
                <a:srgbClr val="000000"/>
              </a:solidFill>
              <a:highlight>
                <a:schemeClr val="lt1"/>
              </a:highlight>
              <a:latin typeface="Barlow"/>
              <a:ea typeface="Barlow"/>
              <a:cs typeface="Barlow"/>
              <a:sym typeface="Barlow"/>
            </a:endParaRPr>
          </a:p>
        </p:txBody>
      </p:sp>
      <p:sp>
        <p:nvSpPr>
          <p:cNvPr id="131" name="Google Shape;131;p3"/>
          <p:cNvSpPr txBox="1"/>
          <p:nvPr/>
        </p:nvSpPr>
        <p:spPr>
          <a:xfrm>
            <a:off x="4060311" y="2117313"/>
            <a:ext cx="1463100" cy="548700"/>
          </a:xfrm>
          <a:prstGeom prst="rect">
            <a:avLst/>
          </a:prstGeom>
          <a:solidFill>
            <a:srgbClr val="CFE8FF"/>
          </a:solidFill>
          <a:ln cap="flat" cmpd="sng" w="19050">
            <a:solidFill>
              <a:srgbClr val="5B9B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Barlow Medium"/>
                <a:ea typeface="Barlow Medium"/>
                <a:cs typeface="Barlow Medium"/>
                <a:sym typeface="Barlow Medium"/>
              </a:rPr>
              <a:t>PEP </a:t>
            </a:r>
            <a:r>
              <a:rPr b="1" i="0" lang="en" sz="900" u="none" cap="none" strike="noStrike">
                <a:solidFill>
                  <a:schemeClr val="dk1"/>
                </a:solidFill>
                <a:latin typeface="Barlow"/>
                <a:ea typeface="Barlow"/>
                <a:cs typeface="Barlow"/>
                <a:sym typeface="Barlow"/>
              </a:rPr>
              <a:t>not </a:t>
            </a:r>
            <a:r>
              <a:rPr b="0" i="0" lang="en" sz="900" u="none" cap="none" strike="noStrike">
                <a:solidFill>
                  <a:schemeClr val="dk1"/>
                </a:solidFill>
                <a:latin typeface="Barlow Medium"/>
                <a:ea typeface="Barlow Medium"/>
                <a:cs typeface="Barlow Medium"/>
                <a:sym typeface="Barlow Medium"/>
              </a:rPr>
              <a:t>indicated</a:t>
            </a:r>
            <a:endParaRPr b="0" i="0" sz="900" u="none" cap="none" strike="noStrike">
              <a:solidFill>
                <a:schemeClr val="dk1"/>
              </a:solidFill>
              <a:latin typeface="Barlow Medium"/>
              <a:ea typeface="Barlow Medium"/>
              <a:cs typeface="Barlow Medium"/>
              <a:sym typeface="Barlow Medium"/>
            </a:endParaRPr>
          </a:p>
        </p:txBody>
      </p:sp>
      <p:sp>
        <p:nvSpPr>
          <p:cNvPr id="132" name="Google Shape;132;p3"/>
          <p:cNvSpPr/>
          <p:nvPr/>
        </p:nvSpPr>
        <p:spPr>
          <a:xfrm>
            <a:off x="457250" y="3008450"/>
            <a:ext cx="1463050" cy="548640"/>
          </a:xfrm>
          <a:prstGeom prst="flowChartPreparation">
            <a:avLst/>
          </a:prstGeom>
          <a:solidFill>
            <a:srgbClr val="CFF4D2"/>
          </a:solidFill>
          <a:ln cap="flat" cmpd="sng" w="19050">
            <a:solidFill>
              <a:srgbClr val="5DAE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Barlow Medium"/>
                <a:ea typeface="Barlow Medium"/>
                <a:cs typeface="Barlow Medium"/>
                <a:sym typeface="Barlow Medium"/>
              </a:rPr>
              <a:t>Exposure under </a:t>
            </a:r>
            <a:r>
              <a:rPr b="1" i="0" lang="en" sz="900" u="none" cap="none" strike="noStrike">
                <a:solidFill>
                  <a:schemeClr val="dk1"/>
                </a:solidFill>
                <a:latin typeface="Barlow"/>
                <a:ea typeface="Barlow"/>
                <a:cs typeface="Barlow"/>
                <a:sym typeface="Barlow"/>
              </a:rPr>
              <a:t>category I</a:t>
            </a:r>
            <a:r>
              <a:rPr b="0" i="0" lang="en" sz="900" u="none" cap="none" strike="noStrike">
                <a:solidFill>
                  <a:schemeClr val="dk1"/>
                </a:solidFill>
                <a:latin typeface="Barlow Medium"/>
                <a:ea typeface="Barlow Medium"/>
                <a:cs typeface="Barlow Medium"/>
                <a:sym typeface="Barlow Medium"/>
              </a:rPr>
              <a:t>?</a:t>
            </a:r>
            <a:endParaRPr b="0" i="0" sz="1400" u="none" cap="none" strike="noStrike">
              <a:solidFill>
                <a:srgbClr val="000000"/>
              </a:solidFill>
              <a:latin typeface="Arial"/>
              <a:ea typeface="Arial"/>
              <a:cs typeface="Arial"/>
              <a:sym typeface="Arial"/>
            </a:endParaRPr>
          </a:p>
        </p:txBody>
      </p:sp>
      <p:sp>
        <p:nvSpPr>
          <p:cNvPr id="133" name="Google Shape;133;p3"/>
          <p:cNvSpPr/>
          <p:nvPr/>
        </p:nvSpPr>
        <p:spPr>
          <a:xfrm>
            <a:off x="1920325" y="3237025"/>
            <a:ext cx="338400" cy="91500"/>
          </a:xfrm>
          <a:prstGeom prst="rightArrow">
            <a:avLst>
              <a:gd fmla="val 17338" name="adj1"/>
              <a:gd fmla="val 133060" name="adj2"/>
            </a:avLst>
          </a:prstGeom>
          <a:solidFill>
            <a:srgbClr val="2F9E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highlight>
                  <a:schemeClr val="lt1"/>
                </a:highlight>
                <a:latin typeface="Barlow"/>
                <a:ea typeface="Barlow"/>
                <a:cs typeface="Barlow"/>
                <a:sym typeface="Barlow"/>
              </a:rPr>
              <a:t>Y</a:t>
            </a:r>
            <a:endParaRPr b="1" i="0" sz="1000" u="none" cap="none" strike="noStrike">
              <a:solidFill>
                <a:srgbClr val="000000"/>
              </a:solidFill>
              <a:highlight>
                <a:schemeClr val="lt1"/>
              </a:highlight>
              <a:latin typeface="Barlow"/>
              <a:ea typeface="Barlow"/>
              <a:cs typeface="Barlow"/>
              <a:sym typeface="Barlow"/>
            </a:endParaRPr>
          </a:p>
        </p:txBody>
      </p:sp>
      <p:sp>
        <p:nvSpPr>
          <p:cNvPr id="134" name="Google Shape;134;p3"/>
          <p:cNvSpPr txBox="1"/>
          <p:nvPr/>
        </p:nvSpPr>
        <p:spPr>
          <a:xfrm>
            <a:off x="2258686" y="3003238"/>
            <a:ext cx="1463100" cy="548700"/>
          </a:xfrm>
          <a:prstGeom prst="rect">
            <a:avLst/>
          </a:prstGeom>
          <a:solidFill>
            <a:srgbClr val="CFE8FF"/>
          </a:solidFill>
          <a:ln cap="flat" cmpd="sng" w="19050">
            <a:solidFill>
              <a:srgbClr val="5B9B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Barlow Medium"/>
                <a:ea typeface="Barlow Medium"/>
                <a:cs typeface="Barlow Medium"/>
                <a:sym typeface="Barlow Medium"/>
              </a:rPr>
              <a:t>PEP </a:t>
            </a:r>
            <a:r>
              <a:rPr b="1" i="0" lang="en" sz="900" u="none" cap="none" strike="noStrike">
                <a:solidFill>
                  <a:schemeClr val="dk1"/>
                </a:solidFill>
                <a:latin typeface="Barlow"/>
                <a:ea typeface="Barlow"/>
                <a:cs typeface="Barlow"/>
                <a:sym typeface="Barlow"/>
              </a:rPr>
              <a:t>not </a:t>
            </a:r>
            <a:r>
              <a:rPr b="0" i="0" lang="en" sz="900" u="none" cap="none" strike="noStrike">
                <a:solidFill>
                  <a:schemeClr val="dk1"/>
                </a:solidFill>
                <a:latin typeface="Barlow Medium"/>
                <a:ea typeface="Barlow Medium"/>
                <a:cs typeface="Barlow Medium"/>
                <a:sym typeface="Barlow Medium"/>
              </a:rPr>
              <a:t>indicated</a:t>
            </a:r>
            <a:endParaRPr b="0" i="0" sz="900" u="none" cap="none" strike="noStrike">
              <a:solidFill>
                <a:schemeClr val="dk1"/>
              </a:solidFill>
              <a:latin typeface="Barlow Medium"/>
              <a:ea typeface="Barlow Medium"/>
              <a:cs typeface="Barlow Medium"/>
              <a:sym typeface="Barlow Medium"/>
            </a:endParaRPr>
          </a:p>
        </p:txBody>
      </p:sp>
      <p:sp>
        <p:nvSpPr>
          <p:cNvPr id="135" name="Google Shape;135;p3"/>
          <p:cNvSpPr/>
          <p:nvPr/>
        </p:nvSpPr>
        <p:spPr>
          <a:xfrm>
            <a:off x="1143025" y="3559135"/>
            <a:ext cx="91500" cy="338400"/>
          </a:xfrm>
          <a:prstGeom prst="downArrow">
            <a:avLst>
              <a:gd fmla="val 18525" name="adj1"/>
              <a:gd fmla="val 133060" name="adj2"/>
            </a:avLst>
          </a:prstGeom>
          <a:solidFill>
            <a:srgbClr val="FE7070"/>
          </a:solidFill>
          <a:ln>
            <a:noFill/>
          </a:ln>
        </p:spPr>
        <p:txBody>
          <a:bodyPr anchorCtr="0" anchor="t"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000000"/>
                </a:solidFill>
                <a:highlight>
                  <a:schemeClr val="lt1"/>
                </a:highlight>
                <a:latin typeface="Barlow"/>
                <a:ea typeface="Barlow"/>
                <a:cs typeface="Barlow"/>
                <a:sym typeface="Barlow"/>
              </a:rPr>
              <a:t>N</a:t>
            </a:r>
            <a:endParaRPr b="1" i="0" sz="1000" u="none" cap="none" strike="noStrike">
              <a:solidFill>
                <a:srgbClr val="000000"/>
              </a:solidFill>
              <a:highlight>
                <a:schemeClr val="lt1"/>
              </a:highlight>
              <a:latin typeface="Barlow"/>
              <a:ea typeface="Barlow"/>
              <a:cs typeface="Barlow"/>
              <a:sym typeface="Barlow"/>
            </a:endParaRPr>
          </a:p>
        </p:txBody>
      </p:sp>
      <p:sp>
        <p:nvSpPr>
          <p:cNvPr id="136" name="Google Shape;136;p3"/>
          <p:cNvSpPr/>
          <p:nvPr/>
        </p:nvSpPr>
        <p:spPr>
          <a:xfrm>
            <a:off x="2258750" y="3889188"/>
            <a:ext cx="1463050" cy="548640"/>
          </a:xfrm>
          <a:prstGeom prst="flowChartPreparation">
            <a:avLst/>
          </a:prstGeom>
          <a:solidFill>
            <a:srgbClr val="CFF4D2"/>
          </a:solidFill>
          <a:ln cap="flat" cmpd="sng" w="19050">
            <a:solidFill>
              <a:srgbClr val="5DAE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Barlow Medium"/>
                <a:ea typeface="Barlow Medium"/>
                <a:cs typeface="Barlow Medium"/>
                <a:sym typeface="Barlow Medium"/>
              </a:rPr>
              <a:t>Patient </a:t>
            </a:r>
            <a:r>
              <a:rPr b="1" i="0" lang="en" sz="850" u="none" cap="none" strike="noStrike">
                <a:solidFill>
                  <a:schemeClr val="dk1"/>
                </a:solidFill>
                <a:latin typeface="Barlow"/>
                <a:ea typeface="Barlow"/>
                <a:cs typeface="Barlow"/>
                <a:sym typeface="Barlow"/>
              </a:rPr>
              <a:t>immunocompromised</a:t>
            </a:r>
            <a:r>
              <a:rPr b="1" baseline="30000" i="0" lang="en" sz="850" u="none" cap="none" strike="noStrike">
                <a:solidFill>
                  <a:schemeClr val="dk1"/>
                </a:solidFill>
                <a:latin typeface="Barlow"/>
                <a:ea typeface="Barlow"/>
                <a:cs typeface="Barlow"/>
                <a:sym typeface="Barlow"/>
              </a:rPr>
              <a:t>B</a:t>
            </a:r>
            <a:r>
              <a:rPr b="1" i="0" lang="en" sz="850" u="none" cap="none" strike="noStrike">
                <a:solidFill>
                  <a:schemeClr val="dk1"/>
                </a:solidFill>
                <a:latin typeface="Barlow"/>
                <a:ea typeface="Barlow"/>
                <a:cs typeface="Barlow"/>
                <a:sym typeface="Barlow"/>
              </a:rPr>
              <a:t>?</a:t>
            </a:r>
            <a:endParaRPr b="0" i="0" sz="900" u="none" cap="none" strike="noStrike">
              <a:solidFill>
                <a:schemeClr val="dk1"/>
              </a:solidFill>
              <a:latin typeface="Barlow Medium"/>
              <a:ea typeface="Barlow Medium"/>
              <a:cs typeface="Barlow Medium"/>
              <a:sym typeface="Barlow Medium"/>
            </a:endParaRPr>
          </a:p>
        </p:txBody>
      </p:sp>
      <p:sp>
        <p:nvSpPr>
          <p:cNvPr id="137" name="Google Shape;137;p3"/>
          <p:cNvSpPr txBox="1"/>
          <p:nvPr/>
        </p:nvSpPr>
        <p:spPr>
          <a:xfrm>
            <a:off x="5861859" y="4780611"/>
            <a:ext cx="1459200" cy="548700"/>
          </a:xfrm>
          <a:prstGeom prst="rect">
            <a:avLst/>
          </a:prstGeom>
          <a:solidFill>
            <a:srgbClr val="FFE082"/>
          </a:solidFill>
          <a:ln cap="flat" cmpd="sng" w="19050">
            <a:solidFill>
              <a:srgbClr val="F2B6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Barlow Medium"/>
                <a:ea typeface="Barlow Medium"/>
                <a:cs typeface="Barlow Medium"/>
                <a:sym typeface="Barlow Medium"/>
              </a:rPr>
              <a:t>Start </a:t>
            </a:r>
            <a:r>
              <a:rPr b="1" i="0" lang="en" sz="900" u="none" cap="none" strike="noStrike">
                <a:solidFill>
                  <a:schemeClr val="dk1"/>
                </a:solidFill>
                <a:latin typeface="Barlow"/>
                <a:ea typeface="Barlow"/>
                <a:cs typeface="Barlow"/>
                <a:sym typeface="Barlow"/>
              </a:rPr>
              <a:t>Booster PEP </a:t>
            </a:r>
            <a:r>
              <a:rPr b="0" i="1" lang="en" sz="900" u="none" cap="none" strike="noStrike">
                <a:solidFill>
                  <a:schemeClr val="dk1"/>
                </a:solidFill>
                <a:latin typeface="Barlow Medium"/>
                <a:ea typeface="Barlow Medium"/>
                <a:cs typeface="Barlow Medium"/>
                <a:sym typeface="Barlow Medium"/>
              </a:rPr>
              <a:t>(CCEEV) </a:t>
            </a:r>
            <a:r>
              <a:rPr b="0" i="0" lang="en" sz="900" u="none" cap="none" strike="noStrike">
                <a:solidFill>
                  <a:schemeClr val="dk1"/>
                </a:solidFill>
                <a:latin typeface="Barlow Medium"/>
                <a:ea typeface="Barlow Medium"/>
                <a:cs typeface="Barlow Medium"/>
                <a:sym typeface="Barlow Medium"/>
              </a:rPr>
              <a:t>immediately</a:t>
            </a:r>
            <a:endParaRPr b="0" i="0" sz="900" u="none" cap="none" strike="noStrike">
              <a:solidFill>
                <a:schemeClr val="dk1"/>
              </a:solidFill>
              <a:latin typeface="Barlow Medium"/>
              <a:ea typeface="Barlow Medium"/>
              <a:cs typeface="Barlow Medium"/>
              <a:sym typeface="Barlow Medium"/>
            </a:endParaRPr>
          </a:p>
        </p:txBody>
      </p:sp>
      <p:sp>
        <p:nvSpPr>
          <p:cNvPr id="138" name="Google Shape;138;p3"/>
          <p:cNvSpPr/>
          <p:nvPr/>
        </p:nvSpPr>
        <p:spPr>
          <a:xfrm>
            <a:off x="2944550" y="4437835"/>
            <a:ext cx="91500" cy="338400"/>
          </a:xfrm>
          <a:prstGeom prst="downArrow">
            <a:avLst>
              <a:gd fmla="val 18525" name="adj1"/>
              <a:gd fmla="val 133060" name="adj2"/>
            </a:avLst>
          </a:prstGeom>
          <a:solidFill>
            <a:srgbClr val="FE7070"/>
          </a:solidFill>
          <a:ln>
            <a:noFill/>
          </a:ln>
        </p:spPr>
        <p:txBody>
          <a:bodyPr anchorCtr="0" anchor="t"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000000"/>
                </a:solidFill>
                <a:highlight>
                  <a:schemeClr val="lt1"/>
                </a:highlight>
                <a:latin typeface="Barlow"/>
                <a:ea typeface="Barlow"/>
                <a:cs typeface="Barlow"/>
                <a:sym typeface="Barlow"/>
              </a:rPr>
              <a:t>N</a:t>
            </a:r>
            <a:endParaRPr b="1" i="0" sz="1000" u="none" cap="none" strike="noStrike">
              <a:solidFill>
                <a:srgbClr val="000000"/>
              </a:solidFill>
              <a:highlight>
                <a:schemeClr val="lt1"/>
              </a:highlight>
              <a:latin typeface="Barlow"/>
              <a:ea typeface="Barlow"/>
              <a:cs typeface="Barlow"/>
              <a:sym typeface="Barlow"/>
            </a:endParaRPr>
          </a:p>
        </p:txBody>
      </p:sp>
      <p:sp>
        <p:nvSpPr>
          <p:cNvPr id="139" name="Google Shape;139;p3"/>
          <p:cNvSpPr/>
          <p:nvPr/>
        </p:nvSpPr>
        <p:spPr>
          <a:xfrm>
            <a:off x="5523275" y="5009188"/>
            <a:ext cx="338400" cy="91500"/>
          </a:xfrm>
          <a:prstGeom prst="rightArrow">
            <a:avLst>
              <a:gd fmla="val 17338" name="adj1"/>
              <a:gd fmla="val 133060" name="adj2"/>
            </a:avLst>
          </a:prstGeom>
          <a:solidFill>
            <a:srgbClr val="2F9E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highlight>
                  <a:schemeClr val="lt1"/>
                </a:highlight>
                <a:latin typeface="Barlow"/>
                <a:ea typeface="Barlow"/>
                <a:cs typeface="Barlow"/>
                <a:sym typeface="Barlow"/>
              </a:rPr>
              <a:t>Y</a:t>
            </a:r>
            <a:endParaRPr b="1" i="0" sz="1000" u="none" cap="none" strike="noStrike">
              <a:solidFill>
                <a:srgbClr val="000000"/>
              </a:solidFill>
              <a:highlight>
                <a:schemeClr val="lt1"/>
              </a:highlight>
              <a:latin typeface="Barlow"/>
              <a:ea typeface="Barlow"/>
              <a:cs typeface="Barlow"/>
              <a:sym typeface="Barlow"/>
            </a:endParaRPr>
          </a:p>
        </p:txBody>
      </p:sp>
      <p:sp>
        <p:nvSpPr>
          <p:cNvPr id="140" name="Google Shape;140;p3"/>
          <p:cNvSpPr/>
          <p:nvPr/>
        </p:nvSpPr>
        <p:spPr>
          <a:xfrm>
            <a:off x="1143000" y="4450225"/>
            <a:ext cx="91500" cy="2993100"/>
          </a:xfrm>
          <a:prstGeom prst="downArrow">
            <a:avLst>
              <a:gd fmla="val 18525" name="adj1"/>
              <a:gd fmla="val 133060" name="adj2"/>
            </a:avLst>
          </a:prstGeom>
          <a:solidFill>
            <a:srgbClr val="FE7070"/>
          </a:solidFill>
          <a:ln>
            <a:noFill/>
          </a:ln>
        </p:spPr>
        <p:txBody>
          <a:bodyPr anchorCtr="0" anchor="t"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000000"/>
                </a:solidFill>
                <a:highlight>
                  <a:schemeClr val="lt1"/>
                </a:highlight>
                <a:latin typeface="Barlow"/>
                <a:ea typeface="Barlow"/>
                <a:cs typeface="Barlow"/>
                <a:sym typeface="Barlow"/>
              </a:rPr>
              <a:t>N</a:t>
            </a:r>
            <a:endParaRPr b="1" i="0" sz="1000" u="none" cap="none" strike="noStrike">
              <a:solidFill>
                <a:srgbClr val="000000"/>
              </a:solidFill>
              <a:highlight>
                <a:schemeClr val="lt1"/>
              </a:highlight>
              <a:latin typeface="Barlow"/>
              <a:ea typeface="Barlow"/>
              <a:cs typeface="Barlow"/>
              <a:sym typeface="Barlow"/>
            </a:endParaRPr>
          </a:p>
        </p:txBody>
      </p:sp>
      <p:sp>
        <p:nvSpPr>
          <p:cNvPr id="141" name="Google Shape;141;p3"/>
          <p:cNvSpPr/>
          <p:nvPr/>
        </p:nvSpPr>
        <p:spPr>
          <a:xfrm>
            <a:off x="1920325" y="1460025"/>
            <a:ext cx="338400" cy="91500"/>
          </a:xfrm>
          <a:prstGeom prst="rightArrow">
            <a:avLst>
              <a:gd fmla="val 17338" name="adj1"/>
              <a:gd fmla="val 133060" name="adj2"/>
            </a:avLst>
          </a:prstGeom>
          <a:solidFill>
            <a:srgbClr val="FE707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highlight>
                  <a:schemeClr val="lt1"/>
                </a:highlight>
                <a:latin typeface="Barlow"/>
                <a:ea typeface="Barlow"/>
                <a:cs typeface="Barlow"/>
                <a:sym typeface="Barlow"/>
              </a:rPr>
              <a:t>N</a:t>
            </a:r>
            <a:endParaRPr b="1" i="0" sz="1000" u="none" cap="none" strike="noStrike">
              <a:solidFill>
                <a:srgbClr val="000000"/>
              </a:solidFill>
              <a:highlight>
                <a:schemeClr val="lt1"/>
              </a:highlight>
              <a:latin typeface="Barlow"/>
              <a:ea typeface="Barlow"/>
              <a:cs typeface="Barlow"/>
              <a:sym typeface="Barlow"/>
            </a:endParaRPr>
          </a:p>
        </p:txBody>
      </p:sp>
      <p:sp>
        <p:nvSpPr>
          <p:cNvPr id="142" name="Google Shape;142;p3"/>
          <p:cNvSpPr txBox="1"/>
          <p:nvPr/>
        </p:nvSpPr>
        <p:spPr>
          <a:xfrm>
            <a:off x="4068784" y="3893886"/>
            <a:ext cx="1459200" cy="548700"/>
          </a:xfrm>
          <a:prstGeom prst="rect">
            <a:avLst/>
          </a:prstGeom>
          <a:solidFill>
            <a:srgbClr val="FFD8B5"/>
          </a:solidFill>
          <a:ln cap="flat" cmpd="sng" w="19050">
            <a:solidFill>
              <a:srgbClr val="F29F6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Barlow Medium"/>
                <a:ea typeface="Barlow Medium"/>
                <a:cs typeface="Barlow Medium"/>
                <a:sym typeface="Barlow Medium"/>
              </a:rPr>
              <a:t>Start </a:t>
            </a:r>
            <a:r>
              <a:rPr b="1" i="0" lang="en" sz="900" u="none" cap="none" strike="noStrike">
                <a:solidFill>
                  <a:schemeClr val="dk1"/>
                </a:solidFill>
                <a:latin typeface="Barlow"/>
                <a:ea typeface="Barlow"/>
                <a:cs typeface="Barlow"/>
                <a:sym typeface="Barlow"/>
              </a:rPr>
              <a:t>Primary PEP </a:t>
            </a:r>
            <a:r>
              <a:rPr b="0" i="1" lang="en" sz="900" u="none" cap="none" strike="noStrike">
                <a:solidFill>
                  <a:schemeClr val="dk1"/>
                </a:solidFill>
                <a:latin typeface="Barlow Medium"/>
                <a:ea typeface="Barlow Medium"/>
                <a:cs typeface="Barlow Medium"/>
                <a:sym typeface="Barlow Medium"/>
              </a:rPr>
              <a:t>(CCEEV)</a:t>
            </a:r>
            <a:r>
              <a:rPr b="0" i="0" lang="en" sz="900" u="none" cap="none" strike="noStrike">
                <a:solidFill>
                  <a:schemeClr val="dk1"/>
                </a:solidFill>
                <a:latin typeface="Barlow Medium"/>
                <a:ea typeface="Barlow Medium"/>
                <a:cs typeface="Barlow Medium"/>
                <a:sym typeface="Barlow Medium"/>
              </a:rPr>
              <a:t> immediately</a:t>
            </a:r>
            <a:endParaRPr b="0" i="1" sz="900" u="none" cap="none" strike="noStrike">
              <a:solidFill>
                <a:schemeClr val="dk1"/>
              </a:solidFill>
              <a:latin typeface="Barlow Medium"/>
              <a:ea typeface="Barlow Medium"/>
              <a:cs typeface="Barlow Medium"/>
              <a:sym typeface="Barlow Medium"/>
            </a:endParaRPr>
          </a:p>
        </p:txBody>
      </p:sp>
      <p:sp>
        <p:nvSpPr>
          <p:cNvPr id="143" name="Google Shape;143;p3"/>
          <p:cNvSpPr/>
          <p:nvPr/>
        </p:nvSpPr>
        <p:spPr>
          <a:xfrm>
            <a:off x="3716950" y="4121888"/>
            <a:ext cx="338400" cy="91500"/>
          </a:xfrm>
          <a:prstGeom prst="rightArrow">
            <a:avLst>
              <a:gd fmla="val 17338" name="adj1"/>
              <a:gd fmla="val 133060" name="adj2"/>
            </a:avLst>
          </a:prstGeom>
          <a:solidFill>
            <a:srgbClr val="2F9E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highlight>
                  <a:schemeClr val="lt1"/>
                </a:highlight>
                <a:latin typeface="Barlow"/>
                <a:ea typeface="Barlow"/>
                <a:cs typeface="Barlow"/>
                <a:sym typeface="Barlow"/>
              </a:rPr>
              <a:t>Y</a:t>
            </a:r>
            <a:endParaRPr b="1" i="0" sz="1000" u="none" cap="none" strike="noStrike">
              <a:solidFill>
                <a:srgbClr val="000000"/>
              </a:solidFill>
              <a:highlight>
                <a:schemeClr val="lt1"/>
              </a:highlight>
              <a:latin typeface="Barlow"/>
              <a:ea typeface="Barlow"/>
              <a:cs typeface="Barlow"/>
              <a:sym typeface="Barlow"/>
            </a:endParaRPr>
          </a:p>
        </p:txBody>
      </p:sp>
      <p:sp>
        <p:nvSpPr>
          <p:cNvPr id="144" name="Google Shape;144;p3"/>
          <p:cNvSpPr/>
          <p:nvPr/>
        </p:nvSpPr>
        <p:spPr>
          <a:xfrm>
            <a:off x="457250" y="3894350"/>
            <a:ext cx="1463050" cy="548640"/>
          </a:xfrm>
          <a:prstGeom prst="flowChartPreparation">
            <a:avLst/>
          </a:prstGeom>
          <a:solidFill>
            <a:srgbClr val="CFF4D2"/>
          </a:solidFill>
          <a:ln cap="flat" cmpd="sng" w="19050">
            <a:solidFill>
              <a:srgbClr val="5DAE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Barlow Medium"/>
                <a:ea typeface="Barlow Medium"/>
                <a:cs typeface="Barlow Medium"/>
                <a:sym typeface="Barlow Medium"/>
              </a:rPr>
              <a:t>Exposure under </a:t>
            </a:r>
            <a:r>
              <a:rPr b="1" i="0" lang="en" sz="900" u="none" cap="none" strike="noStrike">
                <a:solidFill>
                  <a:schemeClr val="dk1"/>
                </a:solidFill>
                <a:latin typeface="Barlow"/>
                <a:ea typeface="Barlow"/>
                <a:cs typeface="Barlow"/>
                <a:sym typeface="Barlow"/>
              </a:rPr>
              <a:t>category II</a:t>
            </a:r>
            <a:r>
              <a:rPr b="0" i="0" lang="en" sz="900" u="none" cap="none" strike="noStrike">
                <a:solidFill>
                  <a:schemeClr val="dk1"/>
                </a:solidFill>
                <a:latin typeface="Barlow Medium"/>
                <a:ea typeface="Barlow Medium"/>
                <a:cs typeface="Barlow Medium"/>
                <a:sym typeface="Barlow Medium"/>
              </a:rPr>
              <a:t>?</a:t>
            </a:r>
            <a:endParaRPr b="0" i="0" sz="1400" u="none" cap="none" strike="noStrike">
              <a:solidFill>
                <a:srgbClr val="000000"/>
              </a:solidFill>
              <a:latin typeface="Arial"/>
              <a:ea typeface="Arial"/>
              <a:cs typeface="Arial"/>
              <a:sym typeface="Arial"/>
            </a:endParaRPr>
          </a:p>
        </p:txBody>
      </p:sp>
      <p:sp>
        <p:nvSpPr>
          <p:cNvPr id="145" name="Google Shape;145;p3"/>
          <p:cNvSpPr/>
          <p:nvPr/>
        </p:nvSpPr>
        <p:spPr>
          <a:xfrm>
            <a:off x="1920325" y="4117763"/>
            <a:ext cx="338400" cy="91500"/>
          </a:xfrm>
          <a:prstGeom prst="rightArrow">
            <a:avLst>
              <a:gd fmla="val 17338" name="adj1"/>
              <a:gd fmla="val 133060" name="adj2"/>
            </a:avLst>
          </a:prstGeom>
          <a:solidFill>
            <a:srgbClr val="2F9E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highlight>
                  <a:schemeClr val="lt1"/>
                </a:highlight>
                <a:latin typeface="Barlow"/>
                <a:ea typeface="Barlow"/>
                <a:cs typeface="Barlow"/>
                <a:sym typeface="Barlow"/>
              </a:rPr>
              <a:t>Y</a:t>
            </a:r>
            <a:endParaRPr b="1" i="0" sz="1000" u="none" cap="none" strike="noStrike">
              <a:solidFill>
                <a:srgbClr val="000000"/>
              </a:solidFill>
              <a:highlight>
                <a:schemeClr val="lt1"/>
              </a:highlight>
              <a:latin typeface="Barlow"/>
              <a:ea typeface="Barlow"/>
              <a:cs typeface="Barlow"/>
              <a:sym typeface="Barlow"/>
            </a:endParaRPr>
          </a:p>
        </p:txBody>
      </p:sp>
      <p:sp>
        <p:nvSpPr>
          <p:cNvPr id="146" name="Google Shape;146;p3"/>
          <p:cNvSpPr/>
          <p:nvPr/>
        </p:nvSpPr>
        <p:spPr>
          <a:xfrm>
            <a:off x="3717000" y="5003650"/>
            <a:ext cx="338400" cy="91500"/>
          </a:xfrm>
          <a:prstGeom prst="rightArrow">
            <a:avLst>
              <a:gd fmla="val 17338" name="adj1"/>
              <a:gd fmla="val 133060" name="adj2"/>
            </a:avLst>
          </a:prstGeom>
          <a:solidFill>
            <a:srgbClr val="2F9E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highlight>
                  <a:schemeClr val="lt1"/>
                </a:highlight>
                <a:latin typeface="Barlow"/>
                <a:ea typeface="Barlow"/>
                <a:cs typeface="Barlow"/>
                <a:sym typeface="Barlow"/>
              </a:rPr>
              <a:t>Y</a:t>
            </a:r>
            <a:endParaRPr b="1" i="0" sz="1000" u="none" cap="none" strike="noStrike">
              <a:solidFill>
                <a:srgbClr val="000000"/>
              </a:solidFill>
              <a:highlight>
                <a:schemeClr val="lt1"/>
              </a:highlight>
              <a:latin typeface="Barlow"/>
              <a:ea typeface="Barlow"/>
              <a:cs typeface="Barlow"/>
              <a:sym typeface="Barlow"/>
            </a:endParaRPr>
          </a:p>
        </p:txBody>
      </p:sp>
      <p:sp>
        <p:nvSpPr>
          <p:cNvPr id="147" name="Google Shape;147;p3"/>
          <p:cNvSpPr/>
          <p:nvPr/>
        </p:nvSpPr>
        <p:spPr>
          <a:xfrm>
            <a:off x="4060038" y="4780363"/>
            <a:ext cx="1463050" cy="548640"/>
          </a:xfrm>
          <a:prstGeom prst="flowChartPreparation">
            <a:avLst/>
          </a:prstGeom>
          <a:solidFill>
            <a:srgbClr val="CFF4D2"/>
          </a:solidFill>
          <a:ln cap="flat" cmpd="sng" w="19050">
            <a:solidFill>
              <a:srgbClr val="5DAE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Barlow Medium"/>
                <a:ea typeface="Barlow Medium"/>
                <a:cs typeface="Barlow Medium"/>
                <a:sym typeface="Barlow Medium"/>
              </a:rPr>
              <a:t>Patient </a:t>
            </a:r>
            <a:r>
              <a:rPr b="1" i="0" lang="en" sz="850" u="none" cap="none" strike="noStrike">
                <a:solidFill>
                  <a:schemeClr val="dk1"/>
                </a:solidFill>
                <a:latin typeface="Barlow"/>
                <a:ea typeface="Barlow"/>
                <a:cs typeface="Barlow"/>
                <a:sym typeface="Barlow"/>
              </a:rPr>
              <a:t>previously-immunized</a:t>
            </a:r>
            <a:r>
              <a:rPr b="1" baseline="30000" i="0" lang="en" sz="850" u="none" cap="none" strike="noStrike">
                <a:solidFill>
                  <a:schemeClr val="dk1"/>
                </a:solidFill>
                <a:latin typeface="Barlow"/>
                <a:ea typeface="Barlow"/>
                <a:cs typeface="Barlow"/>
                <a:sym typeface="Barlow"/>
              </a:rPr>
              <a:t>D</a:t>
            </a:r>
            <a:r>
              <a:rPr b="0" i="0" lang="en" sz="850" u="none" cap="none" strike="noStrike">
                <a:solidFill>
                  <a:schemeClr val="dk1"/>
                </a:solidFill>
                <a:latin typeface="Barlow Medium"/>
                <a:ea typeface="Barlow Medium"/>
                <a:cs typeface="Barlow Medium"/>
                <a:sym typeface="Barlow Medium"/>
              </a:rPr>
              <a:t>?</a:t>
            </a:r>
            <a:endParaRPr b="0" i="0" sz="900" u="none" cap="none" strike="noStrike">
              <a:solidFill>
                <a:schemeClr val="dk1"/>
              </a:solidFill>
              <a:latin typeface="Barlow Medium"/>
              <a:ea typeface="Barlow Medium"/>
              <a:cs typeface="Barlow Medium"/>
              <a:sym typeface="Barlow Medium"/>
            </a:endParaRPr>
          </a:p>
        </p:txBody>
      </p:sp>
      <p:sp>
        <p:nvSpPr>
          <p:cNvPr id="148" name="Google Shape;148;p3"/>
          <p:cNvSpPr/>
          <p:nvPr/>
        </p:nvSpPr>
        <p:spPr>
          <a:xfrm>
            <a:off x="2258775" y="5669275"/>
            <a:ext cx="1463050" cy="548640"/>
          </a:xfrm>
          <a:prstGeom prst="flowChartPreparation">
            <a:avLst/>
          </a:prstGeom>
          <a:solidFill>
            <a:srgbClr val="CFF4D2"/>
          </a:solidFill>
          <a:ln cap="flat" cmpd="sng" w="19050">
            <a:solidFill>
              <a:srgbClr val="5DAE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Barlow Medium"/>
                <a:ea typeface="Barlow Medium"/>
                <a:cs typeface="Barlow Medium"/>
                <a:sym typeface="Barlow Medium"/>
              </a:rPr>
              <a:t>Exposure from a </a:t>
            </a:r>
            <a:r>
              <a:rPr b="1" i="0" lang="en" sz="850" u="none" cap="none" strike="noStrike">
                <a:solidFill>
                  <a:schemeClr val="dk1"/>
                </a:solidFill>
                <a:latin typeface="Barlow"/>
                <a:ea typeface="Barlow"/>
                <a:cs typeface="Barlow"/>
                <a:sym typeface="Barlow"/>
              </a:rPr>
              <a:t>vaccinated animal</a:t>
            </a:r>
            <a:r>
              <a:rPr b="1" baseline="30000" i="0" lang="en" sz="850" u="none" cap="none" strike="noStrike">
                <a:solidFill>
                  <a:schemeClr val="dk1"/>
                </a:solidFill>
                <a:latin typeface="Barlow"/>
                <a:ea typeface="Barlow"/>
                <a:cs typeface="Barlow"/>
                <a:sym typeface="Barlow"/>
              </a:rPr>
              <a:t>E</a:t>
            </a:r>
            <a:r>
              <a:rPr b="0" i="0" lang="en" sz="850" u="none" cap="none" strike="noStrike">
                <a:solidFill>
                  <a:schemeClr val="dk1"/>
                </a:solidFill>
                <a:latin typeface="Barlow Medium"/>
                <a:ea typeface="Barlow Medium"/>
                <a:cs typeface="Barlow Medium"/>
                <a:sym typeface="Barlow Medium"/>
              </a:rPr>
              <a:t>?</a:t>
            </a:r>
            <a:endParaRPr b="0" i="0" sz="900" u="none" cap="none" strike="noStrike">
              <a:solidFill>
                <a:schemeClr val="dk1"/>
              </a:solidFill>
              <a:latin typeface="Barlow Medium"/>
              <a:ea typeface="Barlow Medium"/>
              <a:cs typeface="Barlow Medium"/>
              <a:sym typeface="Barlow Medium"/>
            </a:endParaRPr>
          </a:p>
        </p:txBody>
      </p:sp>
      <p:sp>
        <p:nvSpPr>
          <p:cNvPr id="149" name="Google Shape;149;p3"/>
          <p:cNvSpPr/>
          <p:nvPr/>
        </p:nvSpPr>
        <p:spPr>
          <a:xfrm>
            <a:off x="2258575" y="4783350"/>
            <a:ext cx="1463050" cy="548640"/>
          </a:xfrm>
          <a:prstGeom prst="flowChartPreparation">
            <a:avLst/>
          </a:prstGeom>
          <a:solidFill>
            <a:srgbClr val="CFF4D2"/>
          </a:solidFill>
          <a:ln cap="flat" cmpd="sng" w="19050">
            <a:solidFill>
              <a:srgbClr val="5DAE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Barlow Medium"/>
                <a:ea typeface="Barlow Medium"/>
                <a:cs typeface="Barlow Medium"/>
                <a:sym typeface="Barlow Medium"/>
              </a:rPr>
              <a:t>Any </a:t>
            </a:r>
            <a:r>
              <a:rPr b="1" i="0" lang="en" sz="900" u="none" cap="none" strike="noStrike">
                <a:solidFill>
                  <a:schemeClr val="dk1"/>
                </a:solidFill>
                <a:latin typeface="Barlow"/>
                <a:ea typeface="Barlow"/>
                <a:cs typeface="Barlow"/>
                <a:sym typeface="Barlow"/>
              </a:rPr>
              <a:t>high-risk criteria</a:t>
            </a:r>
            <a:r>
              <a:rPr b="1" baseline="30000" i="0" lang="en" sz="850" u="none" cap="none" strike="noStrike">
                <a:solidFill>
                  <a:schemeClr val="dk1"/>
                </a:solidFill>
                <a:latin typeface="Barlow"/>
                <a:ea typeface="Barlow"/>
                <a:cs typeface="Barlow"/>
                <a:sym typeface="Barlow"/>
              </a:rPr>
              <a:t>C</a:t>
            </a:r>
            <a:r>
              <a:rPr b="1" i="0" lang="en" sz="900" u="none" cap="none" strike="noStrike">
                <a:solidFill>
                  <a:schemeClr val="dk1"/>
                </a:solidFill>
                <a:latin typeface="Barlow"/>
                <a:ea typeface="Barlow"/>
                <a:cs typeface="Barlow"/>
                <a:sym typeface="Barlow"/>
              </a:rPr>
              <a:t> </a:t>
            </a:r>
            <a:r>
              <a:rPr b="0" i="0" lang="en" sz="900" u="none" cap="none" strike="noStrike">
                <a:solidFill>
                  <a:schemeClr val="dk1"/>
                </a:solidFill>
                <a:latin typeface="Barlow Medium"/>
                <a:ea typeface="Barlow Medium"/>
                <a:cs typeface="Barlow Medium"/>
                <a:sym typeface="Barlow Medium"/>
              </a:rPr>
              <a:t>present?</a:t>
            </a:r>
            <a:endParaRPr b="0" i="0" sz="900" u="none" cap="none" strike="noStrike">
              <a:solidFill>
                <a:schemeClr val="dk1"/>
              </a:solidFill>
              <a:latin typeface="Barlow Medium"/>
              <a:ea typeface="Barlow Medium"/>
              <a:cs typeface="Barlow Medium"/>
              <a:sym typeface="Barlow Medium"/>
            </a:endParaRPr>
          </a:p>
        </p:txBody>
      </p:sp>
      <p:sp>
        <p:nvSpPr>
          <p:cNvPr id="150" name="Google Shape;150;p3"/>
          <p:cNvSpPr/>
          <p:nvPr/>
        </p:nvSpPr>
        <p:spPr>
          <a:xfrm>
            <a:off x="4745700" y="5329485"/>
            <a:ext cx="91500" cy="338400"/>
          </a:xfrm>
          <a:prstGeom prst="downArrow">
            <a:avLst>
              <a:gd fmla="val 18525" name="adj1"/>
              <a:gd fmla="val 133060" name="adj2"/>
            </a:avLst>
          </a:prstGeom>
          <a:solidFill>
            <a:srgbClr val="FE7070"/>
          </a:solidFill>
          <a:ln>
            <a:noFill/>
          </a:ln>
        </p:spPr>
        <p:txBody>
          <a:bodyPr anchorCtr="0" anchor="t"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000000"/>
                </a:solidFill>
                <a:highlight>
                  <a:schemeClr val="lt1"/>
                </a:highlight>
                <a:latin typeface="Barlow"/>
                <a:ea typeface="Barlow"/>
                <a:cs typeface="Barlow"/>
                <a:sym typeface="Barlow"/>
              </a:rPr>
              <a:t>N</a:t>
            </a:r>
            <a:endParaRPr b="1" i="0" sz="1000" u="none" cap="none" strike="noStrike">
              <a:solidFill>
                <a:srgbClr val="000000"/>
              </a:solidFill>
              <a:highlight>
                <a:schemeClr val="lt1"/>
              </a:highlight>
              <a:latin typeface="Barlow"/>
              <a:ea typeface="Barlow"/>
              <a:cs typeface="Barlow"/>
              <a:sym typeface="Barlow"/>
            </a:endParaRPr>
          </a:p>
        </p:txBody>
      </p:sp>
      <p:cxnSp>
        <p:nvCxnSpPr>
          <p:cNvPr id="151" name="Google Shape;151;p3"/>
          <p:cNvCxnSpPr>
            <a:stCxn id="129" idx="2"/>
          </p:cNvCxnSpPr>
          <p:nvPr/>
        </p:nvCxnSpPr>
        <p:spPr>
          <a:xfrm rot="5400000">
            <a:off x="2031175" y="1841303"/>
            <a:ext cx="134400" cy="1783800"/>
          </a:xfrm>
          <a:prstGeom prst="bentConnector2">
            <a:avLst/>
          </a:prstGeom>
          <a:noFill/>
          <a:ln cap="flat" cmpd="sng" w="19050">
            <a:solidFill>
              <a:srgbClr val="FE7070"/>
            </a:solidFill>
            <a:prstDash val="solid"/>
            <a:round/>
            <a:headEnd len="sm" w="sm" type="none"/>
            <a:tailEnd len="sm" w="sm" type="none"/>
          </a:ln>
        </p:spPr>
      </p:cxnSp>
      <p:sp>
        <p:nvSpPr>
          <p:cNvPr id="152" name="Google Shape;152;p3"/>
          <p:cNvSpPr txBox="1"/>
          <p:nvPr/>
        </p:nvSpPr>
        <p:spPr>
          <a:xfrm>
            <a:off x="2537000" y="2666002"/>
            <a:ext cx="906600" cy="232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chemeClr val="dk1"/>
                </a:solidFill>
                <a:highlight>
                  <a:schemeClr val="lt1"/>
                </a:highlight>
                <a:latin typeface="Barlow"/>
                <a:ea typeface="Barlow"/>
                <a:cs typeface="Barlow"/>
                <a:sym typeface="Barlow"/>
              </a:rPr>
              <a:t>N/Unknown</a:t>
            </a:r>
            <a:endParaRPr b="1" i="1" sz="1000" u="none" cap="none" strike="noStrike">
              <a:solidFill>
                <a:schemeClr val="dk1"/>
              </a:solidFill>
              <a:highlight>
                <a:schemeClr val="lt1"/>
              </a:highlight>
              <a:latin typeface="Barlow"/>
              <a:ea typeface="Barlow"/>
              <a:cs typeface="Barlow"/>
              <a:sym typeface="Barlow"/>
            </a:endParaRPr>
          </a:p>
        </p:txBody>
      </p:sp>
      <p:sp>
        <p:nvSpPr>
          <p:cNvPr id="153" name="Google Shape;153;p3"/>
          <p:cNvSpPr txBox="1"/>
          <p:nvPr/>
        </p:nvSpPr>
        <p:spPr>
          <a:xfrm>
            <a:off x="5865050" y="0"/>
            <a:ext cx="1459200" cy="3376500"/>
          </a:xfrm>
          <a:prstGeom prst="rect">
            <a:avLst/>
          </a:prstGeom>
          <a:solidFill>
            <a:srgbClr val="4C9A60"/>
          </a:solidFill>
          <a:ln cap="flat" cmpd="sng" w="19050">
            <a:solidFill>
              <a:srgbClr val="4C9A60"/>
            </a:solidFill>
            <a:prstDash val="solid"/>
            <a:round/>
            <a:headEnd len="sm" w="sm" type="none"/>
            <a:tailEnd len="sm" w="sm" type="none"/>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lt1"/>
                </a:solidFill>
                <a:latin typeface="Barlow"/>
                <a:ea typeface="Barlow"/>
                <a:cs typeface="Barlow"/>
                <a:sym typeface="Barlow"/>
              </a:rPr>
              <a:t>RABIES</a:t>
            </a:r>
            <a:br>
              <a:rPr b="1" i="0" lang="en" sz="1300" u="none" cap="none" strike="noStrike">
                <a:solidFill>
                  <a:schemeClr val="lt1"/>
                </a:solidFill>
                <a:latin typeface="Barlow"/>
                <a:ea typeface="Barlow"/>
                <a:cs typeface="Barlow"/>
                <a:sym typeface="Barlow"/>
              </a:rPr>
            </a:br>
            <a:r>
              <a:rPr b="1" i="0" lang="en" sz="1300" u="none" cap="none" strike="noStrike">
                <a:solidFill>
                  <a:schemeClr val="lt1"/>
                </a:solidFill>
                <a:latin typeface="Barlow"/>
                <a:ea typeface="Barlow"/>
                <a:cs typeface="Barlow"/>
                <a:sym typeface="Barlow"/>
              </a:rPr>
              <a:t>POST-EXPOSURE PROPHYLAXIS DECISION TREE</a:t>
            </a:r>
            <a:endParaRPr b="1" i="1" sz="1300" u="none" cap="none" strike="noStrike">
              <a:solidFill>
                <a:schemeClr val="lt1"/>
              </a:solidFill>
              <a:latin typeface="Barlow"/>
              <a:ea typeface="Barlow"/>
              <a:cs typeface="Barlow"/>
              <a:sym typeface="Barlow"/>
            </a:endParaRPr>
          </a:p>
        </p:txBody>
      </p:sp>
      <p:pic>
        <p:nvPicPr>
          <p:cNvPr id="154" name="Google Shape;154;p3" title="DOH LOGO.png"/>
          <p:cNvPicPr preferRelativeResize="0"/>
          <p:nvPr/>
        </p:nvPicPr>
        <p:blipFill rotWithShape="1">
          <a:blip r:embed="rId3">
            <a:alphaModFix/>
          </a:blip>
          <a:srcRect b="0" l="0" r="0" t="0"/>
          <a:stretch/>
        </p:blipFill>
        <p:spPr>
          <a:xfrm>
            <a:off x="6141350" y="1461110"/>
            <a:ext cx="906586" cy="906586"/>
          </a:xfrm>
          <a:prstGeom prst="rect">
            <a:avLst/>
          </a:prstGeom>
          <a:noFill/>
          <a:ln>
            <a:noFill/>
          </a:ln>
        </p:spPr>
      </p:pic>
      <p:pic>
        <p:nvPicPr>
          <p:cNvPr id="155" name="Google Shape;155;p3" title="1024px-Bagong_Pilipinas_logo.png"/>
          <p:cNvPicPr preferRelativeResize="0"/>
          <p:nvPr/>
        </p:nvPicPr>
        <p:blipFill rotWithShape="1">
          <a:blip r:embed="rId4">
            <a:alphaModFix/>
          </a:blip>
          <a:srcRect b="0" l="0" r="0" t="0"/>
          <a:stretch/>
        </p:blipFill>
        <p:spPr>
          <a:xfrm>
            <a:off x="6108089" y="457188"/>
            <a:ext cx="973097" cy="906574"/>
          </a:xfrm>
          <a:prstGeom prst="rect">
            <a:avLst/>
          </a:prstGeom>
          <a:noFill/>
          <a:ln>
            <a:noFill/>
          </a:ln>
        </p:spPr>
      </p:pic>
      <p:sp>
        <p:nvSpPr>
          <p:cNvPr id="156" name="Google Shape;156;p3"/>
          <p:cNvSpPr txBox="1"/>
          <p:nvPr/>
        </p:nvSpPr>
        <p:spPr>
          <a:xfrm>
            <a:off x="3750" y="9973850"/>
            <a:ext cx="7772400" cy="1913400"/>
          </a:xfrm>
          <a:prstGeom prst="rect">
            <a:avLst/>
          </a:prstGeom>
          <a:solidFill>
            <a:srgbClr val="4C9A60"/>
          </a:solidFill>
          <a:ln>
            <a:noFill/>
          </a:ln>
        </p:spPr>
        <p:txBody>
          <a:bodyPr anchorCtr="0" anchor="t" bIns="91425" lIns="91425" spcFirstLastPara="1" rIns="91425" wrap="square" tIns="45700">
            <a:noAutofit/>
          </a:bodyPr>
          <a:lstStyle/>
          <a:p>
            <a:pPr indent="0" lvl="0" marL="285750" marR="164223" rtl="0" algn="just">
              <a:lnSpc>
                <a:spcPct val="100000"/>
              </a:lnSpc>
              <a:spcBef>
                <a:spcPts val="0"/>
              </a:spcBef>
              <a:spcAft>
                <a:spcPts val="0"/>
              </a:spcAft>
              <a:buClr>
                <a:srgbClr val="000000"/>
              </a:buClr>
              <a:buSzPts val="800"/>
              <a:buFont typeface="Arial"/>
              <a:buNone/>
            </a:pPr>
            <a:r>
              <a:rPr b="1" baseline="30000" i="0" lang="en" sz="800" u="none" cap="none" strike="noStrike">
                <a:solidFill>
                  <a:schemeClr val="lt1"/>
                </a:solidFill>
                <a:latin typeface="Barlow"/>
                <a:ea typeface="Barlow"/>
                <a:cs typeface="Barlow"/>
                <a:sym typeface="Barlow"/>
              </a:rPr>
              <a:t>A</a:t>
            </a:r>
            <a:r>
              <a:rPr b="1" i="0" lang="en" sz="800" u="none" cap="none" strike="noStrike">
                <a:solidFill>
                  <a:schemeClr val="lt1"/>
                </a:solidFill>
                <a:latin typeface="Barlow"/>
                <a:ea typeface="Barlow"/>
                <a:cs typeface="Barlow"/>
                <a:sym typeface="Barlow"/>
              </a:rPr>
              <a:t> Rabies-susceptible mammal</a:t>
            </a:r>
            <a:r>
              <a:rPr b="0" i="0" lang="en" sz="800" u="none" cap="none" strike="noStrike">
                <a:solidFill>
                  <a:schemeClr val="lt1"/>
                </a:solidFill>
                <a:latin typeface="Barlow"/>
                <a:ea typeface="Barlow"/>
                <a:cs typeface="Barlow"/>
                <a:sym typeface="Barlow"/>
              </a:rPr>
              <a:t>: Includes domestic animals (dog, cat), livestock (cows, pigs, horses, goats, etc.), and wild animals (bats, monkeys, etc.). Bites from rodents, guinea pigs, hamsters, rabbits, snakes and other reptiles, birds and other avians, insects, and fish do not require rabies PEP.</a:t>
            </a:r>
            <a:endParaRPr b="0" i="0" sz="800" u="none" cap="none" strike="noStrike">
              <a:solidFill>
                <a:schemeClr val="lt1"/>
              </a:solidFill>
              <a:latin typeface="Barlow"/>
              <a:ea typeface="Barlow"/>
              <a:cs typeface="Barlow"/>
              <a:sym typeface="Barlow"/>
            </a:endParaRPr>
          </a:p>
          <a:p>
            <a:pPr indent="0" lvl="0" marL="285750" marR="164223" rtl="0" algn="just">
              <a:lnSpc>
                <a:spcPct val="100000"/>
              </a:lnSpc>
              <a:spcBef>
                <a:spcPts val="0"/>
              </a:spcBef>
              <a:spcAft>
                <a:spcPts val="0"/>
              </a:spcAft>
              <a:buClr>
                <a:srgbClr val="000000"/>
              </a:buClr>
              <a:buSzPts val="800"/>
              <a:buFont typeface="Arial"/>
              <a:buNone/>
            </a:pPr>
            <a:r>
              <a:rPr b="1" baseline="30000" i="0" lang="en" sz="800" u="none" cap="none" strike="noStrike">
                <a:solidFill>
                  <a:schemeClr val="lt1"/>
                </a:solidFill>
                <a:latin typeface="Barlow"/>
                <a:ea typeface="Barlow"/>
                <a:cs typeface="Barlow"/>
                <a:sym typeface="Barlow"/>
              </a:rPr>
              <a:t>B</a:t>
            </a:r>
            <a:r>
              <a:rPr b="1" i="0" lang="en" sz="800" u="none" cap="none" strike="noStrike">
                <a:solidFill>
                  <a:schemeClr val="lt1"/>
                </a:solidFill>
                <a:latin typeface="Barlow"/>
                <a:ea typeface="Barlow"/>
                <a:cs typeface="Barlow"/>
                <a:sym typeface="Barlow"/>
              </a:rPr>
              <a:t> Immunocompromised individual</a:t>
            </a:r>
            <a:r>
              <a:rPr b="0" i="0" lang="en" sz="800" u="none" cap="none" strike="noStrike">
                <a:solidFill>
                  <a:schemeClr val="lt1"/>
                </a:solidFill>
                <a:latin typeface="Barlow"/>
                <a:ea typeface="Barlow"/>
                <a:cs typeface="Barlow"/>
                <a:sym typeface="Barlow"/>
              </a:rPr>
              <a:t>: Refers to patients with conditions such as symptomatic HIV infection not on antiretroviral therapy or not virally suppressed, cancer or transplant, chronic steroid or other immunosuppressive therapy, end-stage renal disease (ESRD), or chronic liver disease.</a:t>
            </a:r>
            <a:endParaRPr b="0" i="0" sz="800" u="none" cap="none" strike="noStrike">
              <a:solidFill>
                <a:schemeClr val="lt1"/>
              </a:solidFill>
              <a:latin typeface="Barlow"/>
              <a:ea typeface="Barlow"/>
              <a:cs typeface="Barlow"/>
              <a:sym typeface="Barlow"/>
            </a:endParaRPr>
          </a:p>
          <a:p>
            <a:pPr indent="0" lvl="0" marL="285750" marR="164223" rtl="0" algn="just">
              <a:lnSpc>
                <a:spcPct val="100000"/>
              </a:lnSpc>
              <a:spcBef>
                <a:spcPts val="0"/>
              </a:spcBef>
              <a:spcAft>
                <a:spcPts val="0"/>
              </a:spcAft>
              <a:buClr>
                <a:schemeClr val="dk1"/>
              </a:buClr>
              <a:buSzPts val="1100"/>
              <a:buFont typeface="Arial"/>
              <a:buNone/>
            </a:pPr>
            <a:r>
              <a:rPr b="1" baseline="30000" i="0" lang="en" sz="800" u="none" cap="none" strike="noStrike">
                <a:solidFill>
                  <a:schemeClr val="lt1"/>
                </a:solidFill>
                <a:latin typeface="Barlow"/>
                <a:ea typeface="Barlow"/>
                <a:cs typeface="Barlow"/>
                <a:sym typeface="Barlow"/>
              </a:rPr>
              <a:t>C</a:t>
            </a:r>
            <a:r>
              <a:rPr b="1" i="0" lang="en" sz="800" u="none" cap="none" strike="noStrike">
                <a:solidFill>
                  <a:schemeClr val="lt1"/>
                </a:solidFill>
                <a:latin typeface="Barlow"/>
                <a:ea typeface="Barlow"/>
                <a:cs typeface="Barlow"/>
                <a:sym typeface="Barlow"/>
              </a:rPr>
              <a:t> High-risk criteria</a:t>
            </a:r>
            <a:r>
              <a:rPr b="0" i="0" lang="en" sz="800" u="none" cap="none" strike="noStrike">
                <a:solidFill>
                  <a:schemeClr val="lt1"/>
                </a:solidFill>
                <a:latin typeface="Barlow"/>
                <a:ea typeface="Barlow"/>
                <a:cs typeface="Barlow"/>
                <a:sym typeface="Barlow"/>
              </a:rPr>
              <a:t>: </a:t>
            </a:r>
            <a:endParaRPr b="0" i="0" sz="800" u="none" cap="none" strike="noStrike">
              <a:solidFill>
                <a:schemeClr val="lt1"/>
              </a:solidFill>
              <a:latin typeface="Barlow"/>
              <a:ea typeface="Barlow"/>
              <a:cs typeface="Barlow"/>
              <a:sym typeface="Barlow"/>
            </a:endParaRPr>
          </a:p>
          <a:p>
            <a:pPr indent="-107950" lvl="0" marL="514350" marR="164223" rtl="0" algn="just">
              <a:lnSpc>
                <a:spcPct val="100000"/>
              </a:lnSpc>
              <a:spcBef>
                <a:spcPts val="0"/>
              </a:spcBef>
              <a:spcAft>
                <a:spcPts val="0"/>
              </a:spcAft>
              <a:buClr>
                <a:schemeClr val="lt1"/>
              </a:buClr>
              <a:buSzPts val="800"/>
              <a:buFont typeface="Barlow"/>
              <a:buAutoNum type="arabicPeriod"/>
            </a:pPr>
            <a:r>
              <a:rPr b="0" i="0" lang="en" sz="800" u="none" cap="none" strike="noStrike">
                <a:solidFill>
                  <a:schemeClr val="lt1"/>
                </a:solidFill>
                <a:latin typeface="Barlow"/>
                <a:ea typeface="Barlow"/>
                <a:cs typeface="Barlow"/>
                <a:sym typeface="Barlow"/>
              </a:rPr>
              <a:t>Vaccinated &gt;6 months ago with ≥3 doses</a:t>
            </a:r>
            <a:endParaRPr b="0" i="0" sz="800" u="none" cap="none" strike="noStrike">
              <a:solidFill>
                <a:schemeClr val="lt1"/>
              </a:solidFill>
              <a:latin typeface="Barlow"/>
              <a:ea typeface="Barlow"/>
              <a:cs typeface="Barlow"/>
              <a:sym typeface="Barlow"/>
            </a:endParaRPr>
          </a:p>
          <a:p>
            <a:pPr indent="-107950" lvl="0" marL="514350" marR="164223" rtl="0" algn="just">
              <a:lnSpc>
                <a:spcPct val="100000"/>
              </a:lnSpc>
              <a:spcBef>
                <a:spcPts val="0"/>
              </a:spcBef>
              <a:spcAft>
                <a:spcPts val="0"/>
              </a:spcAft>
              <a:buClr>
                <a:schemeClr val="lt1"/>
              </a:buClr>
              <a:buSzPts val="800"/>
              <a:buFont typeface="Barlow"/>
              <a:buAutoNum type="arabicPeriod"/>
            </a:pPr>
            <a:r>
              <a:rPr b="0" i="0" lang="en" sz="800" u="none" cap="none" strike="noStrike">
                <a:solidFill>
                  <a:schemeClr val="lt1"/>
                </a:solidFill>
                <a:latin typeface="Barlow"/>
                <a:ea typeface="Barlow"/>
                <a:cs typeface="Barlow"/>
                <a:sym typeface="Barlow"/>
              </a:rPr>
              <a:t>Biting animal cannot be observed, is sick or rabid, dies, or is a bat</a:t>
            </a:r>
            <a:endParaRPr b="0" i="0" sz="800" u="none" cap="none" strike="noStrike">
              <a:solidFill>
                <a:schemeClr val="lt1"/>
              </a:solidFill>
              <a:latin typeface="Barlow"/>
              <a:ea typeface="Barlow"/>
              <a:cs typeface="Barlow"/>
              <a:sym typeface="Barlow"/>
            </a:endParaRPr>
          </a:p>
          <a:p>
            <a:pPr indent="-107950" lvl="0" marL="514350" marR="164223" rtl="0" algn="just">
              <a:lnSpc>
                <a:spcPct val="100000"/>
              </a:lnSpc>
              <a:spcBef>
                <a:spcPts val="0"/>
              </a:spcBef>
              <a:spcAft>
                <a:spcPts val="0"/>
              </a:spcAft>
              <a:buClr>
                <a:schemeClr val="lt1"/>
              </a:buClr>
              <a:buSzPts val="800"/>
              <a:buFont typeface="Barlow"/>
              <a:buAutoNum type="arabicPeriod"/>
            </a:pPr>
            <a:r>
              <a:rPr b="0" i="0" lang="en" sz="800" u="none" cap="none" strike="noStrike">
                <a:solidFill>
                  <a:schemeClr val="lt1"/>
                </a:solidFill>
                <a:latin typeface="Barlow"/>
                <a:ea typeface="Barlow"/>
                <a:cs typeface="Barlow"/>
                <a:sym typeface="Barlow"/>
              </a:rPr>
              <a:t>Wounds in highly innervated areas (neck, head, genital area, hands, toes, or in very close proximity to the CNS)</a:t>
            </a:r>
            <a:endParaRPr b="0" i="0" sz="800" u="none" cap="none" strike="noStrike">
              <a:solidFill>
                <a:schemeClr val="lt1"/>
              </a:solidFill>
              <a:latin typeface="Barlow"/>
              <a:ea typeface="Barlow"/>
              <a:cs typeface="Barlow"/>
              <a:sym typeface="Barlow"/>
            </a:endParaRPr>
          </a:p>
          <a:p>
            <a:pPr indent="-107950" lvl="0" marL="514350" marR="164223" rtl="0" algn="just">
              <a:lnSpc>
                <a:spcPct val="100000"/>
              </a:lnSpc>
              <a:spcBef>
                <a:spcPts val="0"/>
              </a:spcBef>
              <a:spcAft>
                <a:spcPts val="0"/>
              </a:spcAft>
              <a:buClr>
                <a:schemeClr val="lt1"/>
              </a:buClr>
              <a:buSzPts val="800"/>
              <a:buFont typeface="Barlow"/>
              <a:buAutoNum type="arabicPeriod"/>
            </a:pPr>
            <a:r>
              <a:rPr b="0" i="0" lang="en" sz="800" u="none" cap="none" strike="noStrike">
                <a:solidFill>
                  <a:schemeClr val="lt1"/>
                </a:solidFill>
                <a:latin typeface="Barlow"/>
                <a:ea typeface="Barlow"/>
                <a:cs typeface="Barlow"/>
                <a:sym typeface="Barlow"/>
              </a:rPr>
              <a:t>Multiple or deep wounds</a:t>
            </a:r>
            <a:endParaRPr b="0" i="0" sz="800" u="none" cap="none" strike="noStrike">
              <a:solidFill>
                <a:schemeClr val="lt1"/>
              </a:solidFill>
              <a:latin typeface="Barlow"/>
              <a:ea typeface="Barlow"/>
              <a:cs typeface="Barlow"/>
              <a:sym typeface="Barlow"/>
            </a:endParaRPr>
          </a:p>
          <a:p>
            <a:pPr indent="-107950" lvl="0" marL="514350" marR="164223" rtl="0" algn="just">
              <a:lnSpc>
                <a:spcPct val="100000"/>
              </a:lnSpc>
              <a:spcBef>
                <a:spcPts val="0"/>
              </a:spcBef>
              <a:spcAft>
                <a:spcPts val="0"/>
              </a:spcAft>
              <a:buClr>
                <a:schemeClr val="lt1"/>
              </a:buClr>
              <a:buSzPts val="800"/>
              <a:buFont typeface="Barlow"/>
              <a:buAutoNum type="arabicPeriod"/>
            </a:pPr>
            <a:r>
              <a:rPr b="0" i="0" lang="en" sz="800" u="none" cap="none" strike="noStrike">
                <a:solidFill>
                  <a:schemeClr val="lt1"/>
                </a:solidFill>
                <a:latin typeface="Barlow"/>
                <a:ea typeface="Barlow"/>
                <a:cs typeface="Barlow"/>
                <a:sym typeface="Barlow"/>
              </a:rPr>
              <a:t>Patient has uncontrolled co-morbidities</a:t>
            </a:r>
            <a:endParaRPr b="0" i="0" sz="800" u="none" cap="none" strike="noStrike">
              <a:solidFill>
                <a:schemeClr val="lt1"/>
              </a:solidFill>
              <a:latin typeface="Barlow"/>
              <a:ea typeface="Barlow"/>
              <a:cs typeface="Barlow"/>
              <a:sym typeface="Barlow"/>
            </a:endParaRPr>
          </a:p>
          <a:p>
            <a:pPr indent="-107950" lvl="0" marL="514350" marR="164223" rtl="0" algn="just">
              <a:lnSpc>
                <a:spcPct val="100000"/>
              </a:lnSpc>
              <a:spcBef>
                <a:spcPts val="0"/>
              </a:spcBef>
              <a:spcAft>
                <a:spcPts val="0"/>
              </a:spcAft>
              <a:buClr>
                <a:schemeClr val="lt1"/>
              </a:buClr>
              <a:buSzPts val="800"/>
              <a:buFont typeface="Barlow"/>
              <a:buAutoNum type="arabicPeriod"/>
            </a:pPr>
            <a:r>
              <a:rPr b="0" i="0" lang="en" sz="800" u="none" cap="none" strike="noStrike">
                <a:solidFill>
                  <a:schemeClr val="lt1"/>
                </a:solidFill>
                <a:latin typeface="Barlow"/>
                <a:ea typeface="Barlow"/>
                <a:cs typeface="Barlow"/>
                <a:sym typeface="Barlow"/>
              </a:rPr>
              <a:t>Patient is from a hard-to-reach area with infrequent transportation to and from ABTC/ABC</a:t>
            </a:r>
            <a:endParaRPr b="0" i="0" sz="800" u="none" cap="none" strike="noStrike">
              <a:solidFill>
                <a:schemeClr val="lt1"/>
              </a:solidFill>
              <a:latin typeface="Barlow"/>
              <a:ea typeface="Barlow"/>
              <a:cs typeface="Barlow"/>
              <a:sym typeface="Barlow"/>
            </a:endParaRPr>
          </a:p>
          <a:p>
            <a:pPr indent="0" lvl="0" marL="285750" marR="164223" rtl="0" algn="just">
              <a:lnSpc>
                <a:spcPct val="100000"/>
              </a:lnSpc>
              <a:spcBef>
                <a:spcPts val="0"/>
              </a:spcBef>
              <a:spcAft>
                <a:spcPts val="0"/>
              </a:spcAft>
              <a:buClr>
                <a:srgbClr val="000000"/>
              </a:buClr>
              <a:buSzPts val="800"/>
              <a:buFont typeface="Arial"/>
              <a:buNone/>
            </a:pPr>
            <a:r>
              <a:rPr b="1" baseline="30000" i="0" lang="en" sz="800" u="none" cap="none" strike="noStrike">
                <a:solidFill>
                  <a:schemeClr val="lt1"/>
                </a:solidFill>
                <a:latin typeface="Barlow"/>
                <a:ea typeface="Barlow"/>
                <a:cs typeface="Barlow"/>
                <a:sym typeface="Barlow"/>
              </a:rPr>
              <a:t>D</a:t>
            </a:r>
            <a:r>
              <a:rPr b="1" i="0" lang="en" sz="800" u="none" cap="none" strike="noStrike">
                <a:solidFill>
                  <a:schemeClr val="lt1"/>
                </a:solidFill>
                <a:latin typeface="Barlow"/>
                <a:ea typeface="Barlow"/>
                <a:cs typeface="Barlow"/>
                <a:sym typeface="Barlow"/>
              </a:rPr>
              <a:t> Previously immunized individual: </a:t>
            </a:r>
            <a:r>
              <a:rPr b="0" i="0" lang="en" sz="800" u="none" cap="none" strike="noStrike">
                <a:solidFill>
                  <a:schemeClr val="lt1"/>
                </a:solidFill>
                <a:latin typeface="Barlow"/>
                <a:ea typeface="Barlow"/>
                <a:cs typeface="Barlow"/>
                <a:sym typeface="Barlow"/>
              </a:rPr>
              <a:t>Refers to patients who have documented evidence of at least three (3) prior doses of anti-rabies vaccine.</a:t>
            </a:r>
            <a:endParaRPr b="0" i="0" sz="800" u="none" cap="none" strike="noStrike">
              <a:solidFill>
                <a:schemeClr val="lt1"/>
              </a:solidFill>
              <a:latin typeface="Barlow"/>
              <a:ea typeface="Barlow"/>
              <a:cs typeface="Barlow"/>
              <a:sym typeface="Barlow"/>
            </a:endParaRPr>
          </a:p>
          <a:p>
            <a:pPr indent="0" lvl="0" marL="285750" marR="164223" rtl="0" algn="just">
              <a:lnSpc>
                <a:spcPct val="100000"/>
              </a:lnSpc>
              <a:spcBef>
                <a:spcPts val="0"/>
              </a:spcBef>
              <a:spcAft>
                <a:spcPts val="0"/>
              </a:spcAft>
              <a:buClr>
                <a:srgbClr val="000000"/>
              </a:buClr>
              <a:buSzPts val="800"/>
              <a:buFont typeface="Arial"/>
              <a:buNone/>
            </a:pPr>
            <a:r>
              <a:rPr b="1" baseline="30000" i="0" lang="en" sz="800" u="none" cap="none" strike="noStrike">
                <a:solidFill>
                  <a:schemeClr val="lt1"/>
                </a:solidFill>
                <a:latin typeface="Barlow"/>
                <a:ea typeface="Barlow"/>
                <a:cs typeface="Barlow"/>
                <a:sym typeface="Barlow"/>
              </a:rPr>
              <a:t>E</a:t>
            </a:r>
            <a:r>
              <a:rPr b="1" i="0" lang="en" sz="800" u="none" cap="none" strike="noStrike">
                <a:solidFill>
                  <a:schemeClr val="lt1"/>
                </a:solidFill>
                <a:latin typeface="Barlow"/>
                <a:ea typeface="Barlow"/>
                <a:cs typeface="Barlow"/>
                <a:sym typeface="Barlow"/>
              </a:rPr>
              <a:t> Vaccinated animal</a:t>
            </a:r>
            <a:r>
              <a:rPr b="0" i="0" lang="en" sz="800" u="none" cap="none" strike="noStrike">
                <a:solidFill>
                  <a:schemeClr val="lt1"/>
                </a:solidFill>
                <a:latin typeface="Barlow"/>
                <a:ea typeface="Barlow"/>
                <a:cs typeface="Barlow"/>
                <a:sym typeface="Barlow"/>
              </a:rPr>
              <a:t>: Refers to a dog or cat with updated anti-rabies vaccination within the past 2 years, supported by documented evidence (i.e., a vaccination certificate) issued by a duly licensed veterinarian.</a:t>
            </a:r>
            <a:endParaRPr b="0" baseline="30000" i="0" sz="800" u="none" cap="none" strike="noStrike">
              <a:solidFill>
                <a:schemeClr val="lt1"/>
              </a:solidFill>
              <a:latin typeface="Barlow"/>
              <a:ea typeface="Barlow"/>
              <a:cs typeface="Barlow"/>
              <a:sym typeface="Barlow"/>
            </a:endParaRPr>
          </a:p>
          <a:p>
            <a:pPr indent="0" lvl="0" marL="285750" marR="164223" rtl="0" algn="just">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Barlow"/>
              <a:ea typeface="Barlow"/>
              <a:cs typeface="Barlow"/>
              <a:sym typeface="Barlow"/>
            </a:endParaRPr>
          </a:p>
          <a:p>
            <a:pPr indent="0" lvl="0" marL="285750" marR="164223" rtl="0" algn="just">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Barlow"/>
              <a:ea typeface="Barlow"/>
              <a:cs typeface="Barlow"/>
              <a:sym typeface="Barlow"/>
            </a:endParaRPr>
          </a:p>
        </p:txBody>
      </p:sp>
      <p:sp>
        <p:nvSpPr>
          <p:cNvPr id="157" name="Google Shape;157;p3"/>
          <p:cNvSpPr/>
          <p:nvPr/>
        </p:nvSpPr>
        <p:spPr>
          <a:xfrm>
            <a:off x="1142950" y="2668035"/>
            <a:ext cx="91500" cy="338400"/>
          </a:xfrm>
          <a:prstGeom prst="downArrow">
            <a:avLst>
              <a:gd fmla="val 18525" name="adj1"/>
              <a:gd fmla="val 133060" name="adj2"/>
            </a:avLst>
          </a:prstGeom>
          <a:solidFill>
            <a:srgbClr val="FE7070"/>
          </a:solidFill>
          <a:ln>
            <a:noFill/>
          </a:ln>
        </p:spPr>
        <p:txBody>
          <a:bodyPr anchorCtr="0" anchor="t"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000000"/>
                </a:solidFill>
                <a:highlight>
                  <a:schemeClr val="lt1"/>
                </a:highlight>
                <a:latin typeface="Barlow"/>
                <a:ea typeface="Barlow"/>
                <a:cs typeface="Barlow"/>
                <a:sym typeface="Barlow"/>
              </a:rPr>
              <a:t>N</a:t>
            </a:r>
            <a:endParaRPr b="1" i="0" sz="1000" u="none" cap="none" strike="noStrike">
              <a:solidFill>
                <a:srgbClr val="000000"/>
              </a:solidFill>
              <a:highlight>
                <a:schemeClr val="lt1"/>
              </a:highlight>
              <a:latin typeface="Barlow"/>
              <a:ea typeface="Barlow"/>
              <a:cs typeface="Barlow"/>
              <a:sym typeface="Barlow"/>
            </a:endParaRPr>
          </a:p>
        </p:txBody>
      </p:sp>
      <p:sp>
        <p:nvSpPr>
          <p:cNvPr id="158" name="Google Shape;158;p3"/>
          <p:cNvSpPr txBox="1"/>
          <p:nvPr/>
        </p:nvSpPr>
        <p:spPr>
          <a:xfrm>
            <a:off x="4062259" y="5666861"/>
            <a:ext cx="1459200" cy="548700"/>
          </a:xfrm>
          <a:prstGeom prst="rect">
            <a:avLst/>
          </a:prstGeom>
          <a:solidFill>
            <a:srgbClr val="FFD8B5"/>
          </a:solidFill>
          <a:ln cap="flat" cmpd="sng" w="19050">
            <a:solidFill>
              <a:srgbClr val="F29F6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Barlow Medium"/>
                <a:ea typeface="Barlow Medium"/>
                <a:cs typeface="Barlow Medium"/>
                <a:sym typeface="Barlow Medium"/>
              </a:rPr>
              <a:t>Start </a:t>
            </a:r>
            <a:r>
              <a:rPr b="1" i="0" lang="en" sz="900" u="none" cap="none" strike="noStrike">
                <a:solidFill>
                  <a:schemeClr val="dk1"/>
                </a:solidFill>
                <a:latin typeface="Barlow"/>
                <a:ea typeface="Barlow"/>
                <a:cs typeface="Barlow"/>
                <a:sym typeface="Barlow"/>
              </a:rPr>
              <a:t>Primary PEP </a:t>
            </a:r>
            <a:r>
              <a:rPr b="0" i="1" lang="en" sz="900" u="none" cap="none" strike="noStrike">
                <a:solidFill>
                  <a:schemeClr val="dk1"/>
                </a:solidFill>
                <a:latin typeface="Barlow Medium"/>
                <a:ea typeface="Barlow Medium"/>
                <a:cs typeface="Barlow Medium"/>
                <a:sym typeface="Barlow Medium"/>
              </a:rPr>
              <a:t>(CCEEV)</a:t>
            </a:r>
            <a:r>
              <a:rPr b="0" i="0" lang="en" sz="900" u="none" cap="none" strike="noStrike">
                <a:solidFill>
                  <a:schemeClr val="dk1"/>
                </a:solidFill>
                <a:latin typeface="Barlow Medium"/>
                <a:ea typeface="Barlow Medium"/>
                <a:cs typeface="Barlow Medium"/>
                <a:sym typeface="Barlow Medium"/>
              </a:rPr>
              <a:t> immediately</a:t>
            </a:r>
            <a:endParaRPr b="0" i="1" sz="900" u="none" cap="none" strike="noStrike">
              <a:solidFill>
                <a:schemeClr val="dk1"/>
              </a:solidFill>
              <a:latin typeface="Barlow Medium"/>
              <a:ea typeface="Barlow Medium"/>
              <a:cs typeface="Barlow Medium"/>
              <a:sym typeface="Barlow Medium"/>
            </a:endParaRPr>
          </a:p>
        </p:txBody>
      </p:sp>
      <p:sp>
        <p:nvSpPr>
          <p:cNvPr id="159" name="Google Shape;159;p3"/>
          <p:cNvSpPr txBox="1"/>
          <p:nvPr/>
        </p:nvSpPr>
        <p:spPr>
          <a:xfrm>
            <a:off x="2258549" y="6555163"/>
            <a:ext cx="1463100" cy="548700"/>
          </a:xfrm>
          <a:prstGeom prst="rect">
            <a:avLst/>
          </a:prstGeom>
          <a:solidFill>
            <a:srgbClr val="CFE8FF"/>
          </a:solidFill>
          <a:ln cap="flat" cmpd="sng" w="19050">
            <a:solidFill>
              <a:srgbClr val="5B9B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Barlow Medium"/>
                <a:ea typeface="Barlow Medium"/>
                <a:cs typeface="Barlow Medium"/>
                <a:sym typeface="Barlow Medium"/>
              </a:rPr>
              <a:t>PEP </a:t>
            </a:r>
            <a:r>
              <a:rPr b="1" i="0" lang="en" sz="900" u="none" cap="none" strike="noStrike">
                <a:solidFill>
                  <a:schemeClr val="dk1"/>
                </a:solidFill>
                <a:latin typeface="Barlow"/>
                <a:ea typeface="Barlow"/>
                <a:cs typeface="Barlow"/>
                <a:sym typeface="Barlow"/>
              </a:rPr>
              <a:t>not </a:t>
            </a:r>
            <a:r>
              <a:rPr b="0" i="0" lang="en" sz="900" u="none" cap="none" strike="noStrike">
                <a:solidFill>
                  <a:schemeClr val="dk1"/>
                </a:solidFill>
                <a:latin typeface="Barlow Medium"/>
                <a:ea typeface="Barlow Medium"/>
                <a:cs typeface="Barlow Medium"/>
                <a:sym typeface="Barlow Medium"/>
              </a:rPr>
              <a:t>indicated</a:t>
            </a:r>
            <a:endParaRPr b="0" i="0" sz="900" u="none" cap="none" strike="noStrike">
              <a:solidFill>
                <a:schemeClr val="dk1"/>
              </a:solidFill>
              <a:latin typeface="Barlow Medium"/>
              <a:ea typeface="Barlow Medium"/>
              <a:cs typeface="Barlow Medium"/>
              <a:sym typeface="Barlow Medium"/>
            </a:endParaRPr>
          </a:p>
        </p:txBody>
      </p:sp>
      <p:sp>
        <p:nvSpPr>
          <p:cNvPr id="160" name="Google Shape;160;p3"/>
          <p:cNvSpPr/>
          <p:nvPr/>
        </p:nvSpPr>
        <p:spPr>
          <a:xfrm>
            <a:off x="2944350" y="5330947"/>
            <a:ext cx="91500" cy="338400"/>
          </a:xfrm>
          <a:prstGeom prst="downArrow">
            <a:avLst>
              <a:gd fmla="val 18525" name="adj1"/>
              <a:gd fmla="val 133060" name="adj2"/>
            </a:avLst>
          </a:prstGeom>
          <a:solidFill>
            <a:srgbClr val="FE7070"/>
          </a:solidFill>
          <a:ln>
            <a:noFill/>
          </a:ln>
        </p:spPr>
        <p:txBody>
          <a:bodyPr anchorCtr="0" anchor="t"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000000"/>
                </a:solidFill>
                <a:highlight>
                  <a:schemeClr val="lt1"/>
                </a:highlight>
                <a:latin typeface="Barlow"/>
                <a:ea typeface="Barlow"/>
                <a:cs typeface="Barlow"/>
                <a:sym typeface="Barlow"/>
              </a:rPr>
              <a:t>N</a:t>
            </a:r>
            <a:endParaRPr b="1" i="0" sz="1000" u="none" cap="none" strike="noStrike">
              <a:solidFill>
                <a:srgbClr val="000000"/>
              </a:solidFill>
              <a:highlight>
                <a:schemeClr val="lt1"/>
              </a:highlight>
              <a:latin typeface="Barlow"/>
              <a:ea typeface="Barlow"/>
              <a:cs typeface="Barlow"/>
              <a:sym typeface="Barlow"/>
            </a:endParaRPr>
          </a:p>
        </p:txBody>
      </p:sp>
      <p:sp>
        <p:nvSpPr>
          <p:cNvPr id="161" name="Google Shape;161;p3"/>
          <p:cNvSpPr/>
          <p:nvPr/>
        </p:nvSpPr>
        <p:spPr>
          <a:xfrm>
            <a:off x="3716950" y="5897850"/>
            <a:ext cx="338400" cy="91500"/>
          </a:xfrm>
          <a:prstGeom prst="rightArrow">
            <a:avLst>
              <a:gd fmla="val 17338" name="adj1"/>
              <a:gd fmla="val 133060" name="adj2"/>
            </a:avLst>
          </a:prstGeom>
          <a:solidFill>
            <a:srgbClr val="FE707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highlight>
                  <a:schemeClr val="lt1"/>
                </a:highlight>
                <a:latin typeface="Barlow"/>
                <a:ea typeface="Barlow"/>
                <a:cs typeface="Barlow"/>
                <a:sym typeface="Barlow"/>
              </a:rPr>
              <a:t>N</a:t>
            </a:r>
            <a:endParaRPr b="1" i="0" sz="1000" u="none" cap="none" strike="noStrike">
              <a:solidFill>
                <a:srgbClr val="000000"/>
              </a:solidFill>
              <a:highlight>
                <a:schemeClr val="lt1"/>
              </a:highlight>
              <a:latin typeface="Barlow"/>
              <a:ea typeface="Barlow"/>
              <a:cs typeface="Barlow"/>
              <a:sym typeface="Barlow"/>
            </a:endParaRPr>
          </a:p>
        </p:txBody>
      </p:sp>
      <p:sp>
        <p:nvSpPr>
          <p:cNvPr id="162" name="Google Shape;162;p3"/>
          <p:cNvSpPr/>
          <p:nvPr/>
        </p:nvSpPr>
        <p:spPr>
          <a:xfrm>
            <a:off x="2944550" y="6217935"/>
            <a:ext cx="91500" cy="338400"/>
          </a:xfrm>
          <a:prstGeom prst="downArrow">
            <a:avLst>
              <a:gd fmla="val 18525" name="adj1"/>
              <a:gd fmla="val 133060" name="adj2"/>
            </a:avLst>
          </a:prstGeom>
          <a:solidFill>
            <a:srgbClr val="2F9E44"/>
          </a:solidFill>
          <a:ln>
            <a:noFill/>
          </a:ln>
        </p:spPr>
        <p:txBody>
          <a:bodyPr anchorCtr="0" anchor="t"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000000"/>
                </a:solidFill>
                <a:highlight>
                  <a:schemeClr val="lt1"/>
                </a:highlight>
                <a:latin typeface="Barlow"/>
                <a:ea typeface="Barlow"/>
                <a:cs typeface="Barlow"/>
                <a:sym typeface="Barlow"/>
              </a:rPr>
              <a:t>Y</a:t>
            </a:r>
            <a:endParaRPr b="1" i="0" sz="1000" u="none" cap="none" strike="noStrike">
              <a:solidFill>
                <a:srgbClr val="000000"/>
              </a:solidFill>
              <a:highlight>
                <a:schemeClr val="lt1"/>
              </a:highlight>
              <a:latin typeface="Barlow"/>
              <a:ea typeface="Barlow"/>
              <a:cs typeface="Barlow"/>
              <a:sym typeface="Barlow"/>
            </a:endParaRPr>
          </a:p>
        </p:txBody>
      </p:sp>
      <p:sp>
        <p:nvSpPr>
          <p:cNvPr id="163" name="Google Shape;163;p3"/>
          <p:cNvSpPr/>
          <p:nvPr/>
        </p:nvSpPr>
        <p:spPr>
          <a:xfrm>
            <a:off x="457250" y="7443125"/>
            <a:ext cx="1463050" cy="548640"/>
          </a:xfrm>
          <a:prstGeom prst="flowChartPreparation">
            <a:avLst/>
          </a:prstGeom>
          <a:solidFill>
            <a:srgbClr val="CFF4D2"/>
          </a:solidFill>
          <a:ln cap="flat" cmpd="sng" w="19050">
            <a:solidFill>
              <a:srgbClr val="5DAE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Barlow Medium"/>
                <a:ea typeface="Barlow Medium"/>
                <a:cs typeface="Barlow Medium"/>
                <a:sym typeface="Barlow Medium"/>
              </a:rPr>
              <a:t>Exposure under </a:t>
            </a:r>
            <a:r>
              <a:rPr b="1" i="0" lang="en" sz="900" u="none" cap="none" strike="noStrike">
                <a:solidFill>
                  <a:schemeClr val="dk1"/>
                </a:solidFill>
                <a:latin typeface="Barlow"/>
                <a:ea typeface="Barlow"/>
                <a:cs typeface="Barlow"/>
                <a:sym typeface="Barlow"/>
              </a:rPr>
              <a:t>category III</a:t>
            </a:r>
            <a:r>
              <a:rPr b="0" i="0" lang="en" sz="900" u="none" cap="none" strike="noStrike">
                <a:solidFill>
                  <a:schemeClr val="dk1"/>
                </a:solidFill>
                <a:latin typeface="Barlow Medium"/>
                <a:ea typeface="Barlow Medium"/>
                <a:cs typeface="Barlow Medium"/>
                <a:sym typeface="Barlow Medium"/>
              </a:rPr>
              <a:t>?</a:t>
            </a:r>
            <a:endParaRPr b="0" i="0" sz="1400" u="none" cap="none" strike="noStrike">
              <a:solidFill>
                <a:srgbClr val="000000"/>
              </a:solidFill>
              <a:latin typeface="Arial"/>
              <a:ea typeface="Arial"/>
              <a:cs typeface="Arial"/>
              <a:sym typeface="Arial"/>
            </a:endParaRPr>
          </a:p>
        </p:txBody>
      </p:sp>
      <p:sp>
        <p:nvSpPr>
          <p:cNvPr id="164" name="Google Shape;164;p3"/>
          <p:cNvSpPr/>
          <p:nvPr/>
        </p:nvSpPr>
        <p:spPr>
          <a:xfrm>
            <a:off x="2258563" y="7439000"/>
            <a:ext cx="1463050" cy="548640"/>
          </a:xfrm>
          <a:prstGeom prst="flowChartPreparation">
            <a:avLst/>
          </a:prstGeom>
          <a:solidFill>
            <a:srgbClr val="CFF4D2"/>
          </a:solidFill>
          <a:ln cap="flat" cmpd="sng" w="19050">
            <a:solidFill>
              <a:srgbClr val="5DAE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Barlow Medium"/>
                <a:ea typeface="Barlow Medium"/>
                <a:cs typeface="Barlow Medium"/>
                <a:sym typeface="Barlow Medium"/>
              </a:rPr>
              <a:t>Patient </a:t>
            </a:r>
            <a:r>
              <a:rPr b="1" i="0" lang="en" sz="850" u="none" cap="none" strike="noStrike">
                <a:solidFill>
                  <a:schemeClr val="dk1"/>
                </a:solidFill>
                <a:latin typeface="Barlow"/>
                <a:ea typeface="Barlow"/>
                <a:cs typeface="Barlow"/>
                <a:sym typeface="Barlow"/>
              </a:rPr>
              <a:t>immunocompromised</a:t>
            </a:r>
            <a:r>
              <a:rPr b="1" baseline="30000" i="0" lang="en" sz="850" u="none" cap="none" strike="noStrike">
                <a:solidFill>
                  <a:schemeClr val="dk1"/>
                </a:solidFill>
                <a:latin typeface="Barlow"/>
                <a:ea typeface="Barlow"/>
                <a:cs typeface="Barlow"/>
                <a:sym typeface="Barlow"/>
              </a:rPr>
              <a:t>B</a:t>
            </a:r>
            <a:r>
              <a:rPr b="1" i="0" lang="en" sz="850" u="none" cap="none" strike="noStrike">
                <a:solidFill>
                  <a:schemeClr val="dk1"/>
                </a:solidFill>
                <a:latin typeface="Barlow"/>
                <a:ea typeface="Barlow"/>
                <a:cs typeface="Barlow"/>
                <a:sym typeface="Barlow"/>
              </a:rPr>
              <a:t>?</a:t>
            </a:r>
            <a:endParaRPr b="1" i="0" sz="100" u="none" cap="none" strike="noStrike">
              <a:solidFill>
                <a:schemeClr val="dk1"/>
              </a:solidFill>
              <a:latin typeface="Barlow"/>
              <a:ea typeface="Barlow"/>
              <a:cs typeface="Barlow"/>
              <a:sym typeface="Barlow"/>
            </a:endParaRPr>
          </a:p>
        </p:txBody>
      </p:sp>
      <p:sp>
        <p:nvSpPr>
          <p:cNvPr id="165" name="Google Shape;165;p3"/>
          <p:cNvSpPr txBox="1"/>
          <p:nvPr/>
        </p:nvSpPr>
        <p:spPr>
          <a:xfrm>
            <a:off x="5863272" y="8326748"/>
            <a:ext cx="1459200" cy="548700"/>
          </a:xfrm>
          <a:prstGeom prst="rect">
            <a:avLst/>
          </a:prstGeom>
          <a:solidFill>
            <a:srgbClr val="FFE082"/>
          </a:solidFill>
          <a:ln cap="flat" cmpd="sng" w="19050">
            <a:solidFill>
              <a:srgbClr val="F2B6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Barlow Medium"/>
                <a:ea typeface="Barlow Medium"/>
                <a:cs typeface="Barlow Medium"/>
                <a:sym typeface="Barlow Medium"/>
              </a:rPr>
              <a:t>Start </a:t>
            </a:r>
            <a:r>
              <a:rPr b="1" i="0" lang="en" sz="900" u="none" cap="none" strike="noStrike">
                <a:solidFill>
                  <a:schemeClr val="dk1"/>
                </a:solidFill>
                <a:latin typeface="Barlow"/>
                <a:ea typeface="Barlow"/>
                <a:cs typeface="Barlow"/>
                <a:sym typeface="Barlow"/>
              </a:rPr>
              <a:t>Booster PEP </a:t>
            </a:r>
            <a:r>
              <a:rPr b="0" i="1" lang="en" sz="900" u="none" cap="none" strike="noStrike">
                <a:solidFill>
                  <a:schemeClr val="dk1"/>
                </a:solidFill>
                <a:latin typeface="Barlow Medium"/>
                <a:ea typeface="Barlow Medium"/>
                <a:cs typeface="Barlow Medium"/>
                <a:sym typeface="Barlow Medium"/>
              </a:rPr>
              <a:t>(CCEEV) </a:t>
            </a:r>
            <a:r>
              <a:rPr b="0" i="0" lang="en" sz="900" u="none" cap="none" strike="noStrike">
                <a:solidFill>
                  <a:schemeClr val="dk1"/>
                </a:solidFill>
                <a:latin typeface="Barlow Medium"/>
                <a:ea typeface="Barlow Medium"/>
                <a:cs typeface="Barlow Medium"/>
                <a:sym typeface="Barlow Medium"/>
              </a:rPr>
              <a:t>immediately</a:t>
            </a:r>
            <a:endParaRPr b="0" i="0" sz="900" u="none" cap="none" strike="noStrike">
              <a:solidFill>
                <a:schemeClr val="dk1"/>
              </a:solidFill>
              <a:latin typeface="Barlow Medium"/>
              <a:ea typeface="Barlow Medium"/>
              <a:cs typeface="Barlow Medium"/>
              <a:sym typeface="Barlow Medium"/>
            </a:endParaRPr>
          </a:p>
        </p:txBody>
      </p:sp>
      <p:sp>
        <p:nvSpPr>
          <p:cNvPr id="166" name="Google Shape;166;p3"/>
          <p:cNvSpPr/>
          <p:nvPr/>
        </p:nvSpPr>
        <p:spPr>
          <a:xfrm>
            <a:off x="2946488" y="7983810"/>
            <a:ext cx="91500" cy="338400"/>
          </a:xfrm>
          <a:prstGeom prst="downArrow">
            <a:avLst>
              <a:gd fmla="val 18525" name="adj1"/>
              <a:gd fmla="val 133060" name="adj2"/>
            </a:avLst>
          </a:prstGeom>
          <a:solidFill>
            <a:srgbClr val="FE7070"/>
          </a:solidFill>
          <a:ln>
            <a:noFill/>
          </a:ln>
        </p:spPr>
        <p:txBody>
          <a:bodyPr anchorCtr="0" anchor="t"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000000"/>
                </a:solidFill>
                <a:latin typeface="Barlow"/>
                <a:ea typeface="Barlow"/>
                <a:cs typeface="Barlow"/>
                <a:sym typeface="Barlow"/>
              </a:rPr>
              <a:t>N</a:t>
            </a:r>
            <a:endParaRPr b="1" i="0" sz="1000" u="none" cap="none" strike="noStrike">
              <a:solidFill>
                <a:srgbClr val="000000"/>
              </a:solidFill>
              <a:latin typeface="Barlow"/>
              <a:ea typeface="Barlow"/>
              <a:cs typeface="Barlow"/>
              <a:sym typeface="Barlow"/>
            </a:endParaRPr>
          </a:p>
        </p:txBody>
      </p:sp>
      <p:sp>
        <p:nvSpPr>
          <p:cNvPr id="167" name="Google Shape;167;p3"/>
          <p:cNvSpPr/>
          <p:nvPr/>
        </p:nvSpPr>
        <p:spPr>
          <a:xfrm>
            <a:off x="2260713" y="8321050"/>
            <a:ext cx="1463050" cy="548640"/>
          </a:xfrm>
          <a:prstGeom prst="flowChartPreparation">
            <a:avLst/>
          </a:prstGeom>
          <a:solidFill>
            <a:srgbClr val="CFF4D2"/>
          </a:solidFill>
          <a:ln cap="flat" cmpd="sng" w="19050">
            <a:solidFill>
              <a:srgbClr val="5DAE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Barlow Medium"/>
                <a:ea typeface="Barlow Medium"/>
                <a:cs typeface="Barlow Medium"/>
                <a:sym typeface="Barlow Medium"/>
              </a:rPr>
              <a:t>Patient </a:t>
            </a:r>
            <a:r>
              <a:rPr b="1" i="0" lang="en" sz="850" u="none" cap="none" strike="noStrike">
                <a:solidFill>
                  <a:schemeClr val="dk1"/>
                </a:solidFill>
                <a:latin typeface="Barlow"/>
                <a:ea typeface="Barlow"/>
                <a:cs typeface="Barlow"/>
                <a:sym typeface="Barlow"/>
              </a:rPr>
              <a:t>previously-immunized</a:t>
            </a:r>
            <a:r>
              <a:rPr b="1" baseline="30000" i="0" lang="en" sz="850" u="none" cap="none" strike="noStrike">
                <a:solidFill>
                  <a:schemeClr val="dk1"/>
                </a:solidFill>
                <a:latin typeface="Barlow"/>
                <a:ea typeface="Barlow"/>
                <a:cs typeface="Barlow"/>
                <a:sym typeface="Barlow"/>
              </a:rPr>
              <a:t>D</a:t>
            </a:r>
            <a:r>
              <a:rPr b="0" i="0" lang="en" sz="850" u="none" cap="none" strike="noStrike">
                <a:solidFill>
                  <a:schemeClr val="dk1"/>
                </a:solidFill>
                <a:latin typeface="Barlow Medium"/>
                <a:ea typeface="Barlow Medium"/>
                <a:cs typeface="Barlow Medium"/>
                <a:sym typeface="Barlow Medium"/>
              </a:rPr>
              <a:t>?</a:t>
            </a:r>
            <a:endParaRPr b="1" i="0" sz="100" u="none" cap="none" strike="noStrike">
              <a:solidFill>
                <a:schemeClr val="dk1"/>
              </a:solidFill>
              <a:latin typeface="Barlow"/>
              <a:ea typeface="Barlow"/>
              <a:cs typeface="Barlow"/>
              <a:sym typeface="Barlow"/>
            </a:endParaRPr>
          </a:p>
        </p:txBody>
      </p:sp>
      <p:sp>
        <p:nvSpPr>
          <p:cNvPr id="168" name="Google Shape;168;p3"/>
          <p:cNvSpPr/>
          <p:nvPr/>
        </p:nvSpPr>
        <p:spPr>
          <a:xfrm>
            <a:off x="4061975" y="8326338"/>
            <a:ext cx="1463050" cy="548640"/>
          </a:xfrm>
          <a:prstGeom prst="flowChartPreparation">
            <a:avLst/>
          </a:prstGeom>
          <a:solidFill>
            <a:srgbClr val="CFF4D2"/>
          </a:solidFill>
          <a:ln cap="flat" cmpd="sng" w="19050">
            <a:solidFill>
              <a:srgbClr val="5DAE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Barlow Medium"/>
                <a:ea typeface="Barlow Medium"/>
                <a:cs typeface="Barlow Medium"/>
                <a:sym typeface="Barlow Medium"/>
              </a:rPr>
              <a:t>Any </a:t>
            </a:r>
            <a:r>
              <a:rPr b="1" i="0" lang="en" sz="900" u="none" cap="none" strike="noStrike">
                <a:solidFill>
                  <a:schemeClr val="dk1"/>
                </a:solidFill>
                <a:latin typeface="Barlow"/>
                <a:ea typeface="Barlow"/>
                <a:cs typeface="Barlow"/>
                <a:sym typeface="Barlow"/>
              </a:rPr>
              <a:t>high-risk criteria</a:t>
            </a:r>
            <a:r>
              <a:rPr b="1" baseline="30000" i="0" lang="en" sz="850" u="none" cap="none" strike="noStrike">
                <a:solidFill>
                  <a:schemeClr val="dk1"/>
                </a:solidFill>
                <a:latin typeface="Barlow"/>
                <a:ea typeface="Barlow"/>
                <a:cs typeface="Barlow"/>
                <a:sym typeface="Barlow"/>
              </a:rPr>
              <a:t>C</a:t>
            </a:r>
            <a:r>
              <a:rPr b="1" i="0" lang="en" sz="900" u="none" cap="none" strike="noStrike">
                <a:solidFill>
                  <a:schemeClr val="dk1"/>
                </a:solidFill>
                <a:latin typeface="Barlow"/>
                <a:ea typeface="Barlow"/>
                <a:cs typeface="Barlow"/>
                <a:sym typeface="Barlow"/>
              </a:rPr>
              <a:t> </a:t>
            </a:r>
            <a:r>
              <a:rPr b="0" i="0" lang="en" sz="900" u="none" cap="none" strike="noStrike">
                <a:solidFill>
                  <a:schemeClr val="dk1"/>
                </a:solidFill>
                <a:latin typeface="Barlow Medium"/>
                <a:ea typeface="Barlow Medium"/>
                <a:cs typeface="Barlow Medium"/>
                <a:sym typeface="Barlow Medium"/>
              </a:rPr>
              <a:t>present?</a:t>
            </a:r>
            <a:endParaRPr b="0" i="0" sz="850" u="none" cap="none" strike="noStrike">
              <a:solidFill>
                <a:srgbClr val="000000"/>
              </a:solidFill>
              <a:latin typeface="Arial"/>
              <a:ea typeface="Arial"/>
              <a:cs typeface="Arial"/>
              <a:sym typeface="Arial"/>
            </a:endParaRPr>
          </a:p>
        </p:txBody>
      </p:sp>
      <p:sp>
        <p:nvSpPr>
          <p:cNvPr id="169" name="Google Shape;169;p3"/>
          <p:cNvSpPr/>
          <p:nvPr/>
        </p:nvSpPr>
        <p:spPr>
          <a:xfrm>
            <a:off x="3718938" y="8549625"/>
            <a:ext cx="338400" cy="91500"/>
          </a:xfrm>
          <a:prstGeom prst="rightArrow">
            <a:avLst>
              <a:gd fmla="val 17338" name="adj1"/>
              <a:gd fmla="val 133060" name="adj2"/>
            </a:avLst>
          </a:prstGeom>
          <a:solidFill>
            <a:srgbClr val="2F9E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latin typeface="Barlow"/>
                <a:ea typeface="Barlow"/>
                <a:cs typeface="Barlow"/>
                <a:sym typeface="Barlow"/>
              </a:rPr>
              <a:t>Y</a:t>
            </a:r>
            <a:endParaRPr b="1" i="0" sz="1000" u="none" cap="none" strike="noStrike">
              <a:solidFill>
                <a:srgbClr val="000000"/>
              </a:solidFill>
              <a:latin typeface="Barlow"/>
              <a:ea typeface="Barlow"/>
              <a:cs typeface="Barlow"/>
              <a:sym typeface="Barlow"/>
            </a:endParaRPr>
          </a:p>
        </p:txBody>
      </p:sp>
      <p:sp>
        <p:nvSpPr>
          <p:cNvPr id="170" name="Google Shape;170;p3"/>
          <p:cNvSpPr/>
          <p:nvPr/>
        </p:nvSpPr>
        <p:spPr>
          <a:xfrm>
            <a:off x="5525213" y="8555163"/>
            <a:ext cx="338400" cy="91500"/>
          </a:xfrm>
          <a:prstGeom prst="rightArrow">
            <a:avLst>
              <a:gd fmla="val 17338" name="adj1"/>
              <a:gd fmla="val 133060" name="adj2"/>
            </a:avLst>
          </a:prstGeom>
          <a:solidFill>
            <a:srgbClr val="2F9E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latin typeface="Barlow"/>
                <a:ea typeface="Barlow"/>
                <a:cs typeface="Barlow"/>
                <a:sym typeface="Barlow"/>
              </a:rPr>
              <a:t>Y</a:t>
            </a:r>
            <a:endParaRPr b="1" i="0" sz="1000" u="none" cap="none" strike="noStrike">
              <a:solidFill>
                <a:srgbClr val="000000"/>
              </a:solidFill>
              <a:latin typeface="Barlow"/>
              <a:ea typeface="Barlow"/>
              <a:cs typeface="Barlow"/>
              <a:sym typeface="Barlow"/>
            </a:endParaRPr>
          </a:p>
        </p:txBody>
      </p:sp>
      <p:sp>
        <p:nvSpPr>
          <p:cNvPr id="171" name="Google Shape;171;p3"/>
          <p:cNvSpPr/>
          <p:nvPr/>
        </p:nvSpPr>
        <p:spPr>
          <a:xfrm>
            <a:off x="2946488" y="8870335"/>
            <a:ext cx="91500" cy="338400"/>
          </a:xfrm>
          <a:prstGeom prst="downArrow">
            <a:avLst>
              <a:gd fmla="val 18525" name="adj1"/>
              <a:gd fmla="val 133060" name="adj2"/>
            </a:avLst>
          </a:prstGeom>
          <a:solidFill>
            <a:srgbClr val="FE7070"/>
          </a:solidFill>
          <a:ln>
            <a:noFill/>
          </a:ln>
        </p:spPr>
        <p:txBody>
          <a:bodyPr anchorCtr="0" anchor="t"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000000"/>
                </a:solidFill>
                <a:latin typeface="Barlow"/>
                <a:ea typeface="Barlow"/>
                <a:cs typeface="Barlow"/>
                <a:sym typeface="Barlow"/>
              </a:rPr>
              <a:t>N</a:t>
            </a:r>
            <a:endParaRPr b="1" i="0" sz="1000" u="none" cap="none" strike="noStrike">
              <a:solidFill>
                <a:srgbClr val="000000"/>
              </a:solidFill>
              <a:latin typeface="Barlow"/>
              <a:ea typeface="Barlow"/>
              <a:cs typeface="Barlow"/>
              <a:sym typeface="Barlow"/>
            </a:endParaRPr>
          </a:p>
        </p:txBody>
      </p:sp>
      <p:sp>
        <p:nvSpPr>
          <p:cNvPr id="172" name="Google Shape;172;p3"/>
          <p:cNvSpPr txBox="1"/>
          <p:nvPr/>
        </p:nvSpPr>
        <p:spPr>
          <a:xfrm>
            <a:off x="4062274" y="9218188"/>
            <a:ext cx="1463100" cy="548700"/>
          </a:xfrm>
          <a:prstGeom prst="rect">
            <a:avLst/>
          </a:prstGeom>
          <a:solidFill>
            <a:srgbClr val="CFE8FF"/>
          </a:solidFill>
          <a:ln cap="flat" cmpd="sng" w="19050">
            <a:solidFill>
              <a:srgbClr val="5B9B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Barlow Medium"/>
                <a:ea typeface="Barlow Medium"/>
                <a:cs typeface="Barlow Medium"/>
                <a:sym typeface="Barlow Medium"/>
              </a:rPr>
              <a:t>PEP </a:t>
            </a:r>
            <a:r>
              <a:rPr b="1" i="0" lang="en" sz="900" u="none" cap="none" strike="noStrike">
                <a:solidFill>
                  <a:schemeClr val="dk1"/>
                </a:solidFill>
                <a:latin typeface="Barlow"/>
                <a:ea typeface="Barlow"/>
                <a:cs typeface="Barlow"/>
                <a:sym typeface="Barlow"/>
              </a:rPr>
              <a:t>not </a:t>
            </a:r>
            <a:r>
              <a:rPr b="0" i="0" lang="en" sz="900" u="none" cap="none" strike="noStrike">
                <a:solidFill>
                  <a:schemeClr val="dk1"/>
                </a:solidFill>
                <a:latin typeface="Barlow Medium"/>
                <a:ea typeface="Barlow Medium"/>
                <a:cs typeface="Barlow Medium"/>
                <a:sym typeface="Barlow Medium"/>
              </a:rPr>
              <a:t>indicated</a:t>
            </a:r>
            <a:endParaRPr b="0" i="1" sz="900" u="none" cap="none" strike="noStrike">
              <a:solidFill>
                <a:schemeClr val="dk1"/>
              </a:solidFill>
              <a:latin typeface="Barlow Medium"/>
              <a:ea typeface="Barlow Medium"/>
              <a:cs typeface="Barlow Medium"/>
              <a:sym typeface="Barlow Medium"/>
            </a:endParaRPr>
          </a:p>
        </p:txBody>
      </p:sp>
      <p:sp>
        <p:nvSpPr>
          <p:cNvPr id="173" name="Google Shape;173;p3"/>
          <p:cNvSpPr txBox="1"/>
          <p:nvPr/>
        </p:nvSpPr>
        <p:spPr>
          <a:xfrm>
            <a:off x="2262647" y="9212786"/>
            <a:ext cx="1459200" cy="548700"/>
          </a:xfrm>
          <a:prstGeom prst="rect">
            <a:avLst/>
          </a:prstGeom>
          <a:solidFill>
            <a:srgbClr val="FFD8B5"/>
          </a:solidFill>
          <a:ln cap="flat" cmpd="sng" w="19050">
            <a:solidFill>
              <a:srgbClr val="F29F6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Barlow Medium"/>
                <a:ea typeface="Barlow Medium"/>
                <a:cs typeface="Barlow Medium"/>
                <a:sym typeface="Barlow Medium"/>
              </a:rPr>
              <a:t>Start </a:t>
            </a:r>
            <a:r>
              <a:rPr b="1" i="0" lang="en" sz="900" u="none" cap="none" strike="noStrike">
                <a:solidFill>
                  <a:schemeClr val="dk1"/>
                </a:solidFill>
                <a:latin typeface="Barlow"/>
                <a:ea typeface="Barlow"/>
                <a:cs typeface="Barlow"/>
                <a:sym typeface="Barlow"/>
              </a:rPr>
              <a:t>Primary PEP </a:t>
            </a:r>
            <a:r>
              <a:rPr b="0" i="1" lang="en" sz="900" u="none" cap="none" strike="noStrike">
                <a:solidFill>
                  <a:schemeClr val="dk1"/>
                </a:solidFill>
                <a:latin typeface="Barlow Medium"/>
                <a:ea typeface="Barlow Medium"/>
                <a:cs typeface="Barlow Medium"/>
                <a:sym typeface="Barlow Medium"/>
              </a:rPr>
              <a:t>(CCEEV+RIG)</a:t>
            </a:r>
            <a:r>
              <a:rPr b="0" i="0" lang="en" sz="900" u="none" cap="none" strike="noStrike">
                <a:solidFill>
                  <a:schemeClr val="dk1"/>
                </a:solidFill>
                <a:latin typeface="Barlow Medium"/>
                <a:ea typeface="Barlow Medium"/>
                <a:cs typeface="Barlow Medium"/>
                <a:sym typeface="Barlow Medium"/>
              </a:rPr>
              <a:t> immediately</a:t>
            </a:r>
            <a:endParaRPr b="0" i="0" sz="900" u="none" cap="none" strike="noStrike">
              <a:solidFill>
                <a:schemeClr val="dk1"/>
              </a:solidFill>
              <a:latin typeface="Barlow Medium"/>
              <a:ea typeface="Barlow Medium"/>
              <a:cs typeface="Barlow Medium"/>
              <a:sym typeface="Barlow Medium"/>
            </a:endParaRPr>
          </a:p>
        </p:txBody>
      </p:sp>
      <p:sp>
        <p:nvSpPr>
          <p:cNvPr id="174" name="Google Shape;174;p3"/>
          <p:cNvSpPr txBox="1"/>
          <p:nvPr/>
        </p:nvSpPr>
        <p:spPr>
          <a:xfrm>
            <a:off x="4070722" y="7439861"/>
            <a:ext cx="1459200" cy="548700"/>
          </a:xfrm>
          <a:prstGeom prst="rect">
            <a:avLst/>
          </a:prstGeom>
          <a:solidFill>
            <a:srgbClr val="FFD8B5"/>
          </a:solidFill>
          <a:ln cap="flat" cmpd="sng" w="19050">
            <a:solidFill>
              <a:srgbClr val="F29F6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Barlow Medium"/>
                <a:ea typeface="Barlow Medium"/>
                <a:cs typeface="Barlow Medium"/>
                <a:sym typeface="Barlow Medium"/>
              </a:rPr>
              <a:t>Start </a:t>
            </a:r>
            <a:r>
              <a:rPr b="1" i="0" lang="en" sz="900" u="none" cap="none" strike="noStrike">
                <a:solidFill>
                  <a:schemeClr val="dk1"/>
                </a:solidFill>
                <a:latin typeface="Barlow"/>
                <a:ea typeface="Barlow"/>
                <a:cs typeface="Barlow"/>
                <a:sym typeface="Barlow"/>
              </a:rPr>
              <a:t>Primary PEP </a:t>
            </a:r>
            <a:r>
              <a:rPr b="0" i="1" lang="en" sz="900" u="none" cap="none" strike="noStrike">
                <a:solidFill>
                  <a:schemeClr val="dk1"/>
                </a:solidFill>
                <a:latin typeface="Barlow Medium"/>
                <a:ea typeface="Barlow Medium"/>
                <a:cs typeface="Barlow Medium"/>
                <a:sym typeface="Barlow Medium"/>
              </a:rPr>
              <a:t>(CCEEV+RIG)</a:t>
            </a:r>
            <a:r>
              <a:rPr b="0" i="0" lang="en" sz="900" u="none" cap="none" strike="noStrike">
                <a:solidFill>
                  <a:schemeClr val="dk1"/>
                </a:solidFill>
                <a:latin typeface="Barlow Medium"/>
                <a:ea typeface="Barlow Medium"/>
                <a:cs typeface="Barlow Medium"/>
                <a:sym typeface="Barlow Medium"/>
              </a:rPr>
              <a:t> immediately</a:t>
            </a:r>
            <a:endParaRPr b="0" i="1" sz="900" u="none" cap="none" strike="noStrike">
              <a:solidFill>
                <a:schemeClr val="dk1"/>
              </a:solidFill>
              <a:latin typeface="Barlow Medium"/>
              <a:ea typeface="Barlow Medium"/>
              <a:cs typeface="Barlow Medium"/>
              <a:sym typeface="Barlow Medium"/>
            </a:endParaRPr>
          </a:p>
        </p:txBody>
      </p:sp>
      <p:sp>
        <p:nvSpPr>
          <p:cNvPr id="175" name="Google Shape;175;p3"/>
          <p:cNvSpPr/>
          <p:nvPr/>
        </p:nvSpPr>
        <p:spPr>
          <a:xfrm>
            <a:off x="4754563" y="8875460"/>
            <a:ext cx="91500" cy="338400"/>
          </a:xfrm>
          <a:prstGeom prst="downArrow">
            <a:avLst>
              <a:gd fmla="val 18525" name="adj1"/>
              <a:gd fmla="val 133060" name="adj2"/>
            </a:avLst>
          </a:prstGeom>
          <a:solidFill>
            <a:srgbClr val="FE7070"/>
          </a:solidFill>
          <a:ln>
            <a:noFill/>
          </a:ln>
        </p:spPr>
        <p:txBody>
          <a:bodyPr anchorCtr="0" anchor="t"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000000"/>
                </a:solidFill>
                <a:latin typeface="Barlow"/>
                <a:ea typeface="Barlow"/>
                <a:cs typeface="Barlow"/>
                <a:sym typeface="Barlow"/>
              </a:rPr>
              <a:t>N</a:t>
            </a:r>
            <a:endParaRPr b="1" i="0" sz="1000" u="none" cap="none" strike="noStrike">
              <a:solidFill>
                <a:srgbClr val="000000"/>
              </a:solidFill>
              <a:latin typeface="Barlow"/>
              <a:ea typeface="Barlow"/>
              <a:cs typeface="Barlow"/>
              <a:sym typeface="Barlow"/>
            </a:endParaRPr>
          </a:p>
        </p:txBody>
      </p:sp>
      <p:sp>
        <p:nvSpPr>
          <p:cNvPr id="176" name="Google Shape;176;p3"/>
          <p:cNvSpPr/>
          <p:nvPr/>
        </p:nvSpPr>
        <p:spPr>
          <a:xfrm>
            <a:off x="1920325" y="7671688"/>
            <a:ext cx="338400" cy="91500"/>
          </a:xfrm>
          <a:prstGeom prst="rightArrow">
            <a:avLst>
              <a:gd fmla="val 17338" name="adj1"/>
              <a:gd fmla="val 133060" name="adj2"/>
            </a:avLst>
          </a:prstGeom>
          <a:solidFill>
            <a:srgbClr val="2F9E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latin typeface="Barlow"/>
                <a:ea typeface="Barlow"/>
                <a:cs typeface="Barlow"/>
                <a:sym typeface="Barlow"/>
              </a:rPr>
              <a:t>Y</a:t>
            </a:r>
            <a:endParaRPr b="1" i="0" sz="1000" u="none" cap="none" strike="noStrike">
              <a:solidFill>
                <a:srgbClr val="000000"/>
              </a:solidFill>
              <a:latin typeface="Barlow"/>
              <a:ea typeface="Barlow"/>
              <a:cs typeface="Barlow"/>
              <a:sym typeface="Barlow"/>
            </a:endParaRPr>
          </a:p>
        </p:txBody>
      </p:sp>
      <p:sp>
        <p:nvSpPr>
          <p:cNvPr id="177" name="Google Shape;177;p3"/>
          <p:cNvSpPr/>
          <p:nvPr/>
        </p:nvSpPr>
        <p:spPr>
          <a:xfrm>
            <a:off x="3720725" y="7669600"/>
            <a:ext cx="338400" cy="91500"/>
          </a:xfrm>
          <a:prstGeom prst="rightArrow">
            <a:avLst>
              <a:gd fmla="val 17338" name="adj1"/>
              <a:gd fmla="val 133060" name="adj2"/>
            </a:avLst>
          </a:prstGeom>
          <a:solidFill>
            <a:srgbClr val="2F9E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latin typeface="Barlow"/>
                <a:ea typeface="Barlow"/>
                <a:cs typeface="Barlow"/>
                <a:sym typeface="Barlow"/>
              </a:rPr>
              <a:t>Y</a:t>
            </a:r>
            <a:endParaRPr b="1" i="0" sz="1000" u="none" cap="none" strike="noStrike">
              <a:solidFill>
                <a:srgbClr val="000000"/>
              </a:solidFill>
              <a:latin typeface="Barlow"/>
              <a:ea typeface="Barlow"/>
              <a:cs typeface="Barlow"/>
              <a:sym typeface="Barlow"/>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1" name="Shape 181"/>
        <p:cNvGrpSpPr/>
        <p:nvPr/>
      </p:nvGrpSpPr>
      <p:grpSpPr>
        <a:xfrm>
          <a:off x="0" y="0"/>
          <a:ext cx="0" cy="0"/>
          <a:chOff x="0" y="0"/>
          <a:chExt cx="0" cy="0"/>
        </a:xfrm>
      </p:grpSpPr>
      <p:graphicFrame>
        <p:nvGraphicFramePr>
          <p:cNvPr id="182" name="Google Shape;182;p4"/>
          <p:cNvGraphicFramePr/>
          <p:nvPr/>
        </p:nvGraphicFramePr>
        <p:xfrm>
          <a:off x="453375" y="345525"/>
          <a:ext cx="3000000" cy="3000000"/>
        </p:xfrm>
        <a:graphic>
          <a:graphicData uri="http://schemas.openxmlformats.org/drawingml/2006/table">
            <a:tbl>
              <a:tblPr>
                <a:noFill/>
                <a:tableStyleId>{4F56B034-4C61-4C8F-8454-8E3EE46E3D2D}</a:tableStyleId>
              </a:tblPr>
              <a:tblGrid>
                <a:gridCol w="1329400"/>
                <a:gridCol w="5536150"/>
              </a:tblGrid>
              <a:tr h="165075">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FFFFFF"/>
                          </a:solidFill>
                          <a:latin typeface="Barlow"/>
                          <a:ea typeface="Barlow"/>
                          <a:cs typeface="Barlow"/>
                          <a:sym typeface="Barlow"/>
                        </a:rPr>
                        <a:t>CATEGORY I</a:t>
                      </a:r>
                      <a:endParaRPr sz="14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CFE8F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5B9BD5"/>
                    </a:solidFill>
                  </a:tcPr>
                </a:tc>
                <a:tc>
                  <a:txBody>
                    <a:bodyPr/>
                    <a:lstStyle/>
                    <a:p>
                      <a:pPr indent="-139700" lvl="0" marL="228600" marR="0" rtl="0" algn="l">
                        <a:lnSpc>
                          <a:spcPct val="100000"/>
                        </a:lnSpc>
                        <a:spcBef>
                          <a:spcPts val="0"/>
                        </a:spcBef>
                        <a:spcAft>
                          <a:spcPts val="0"/>
                        </a:spcAft>
                        <a:buClr>
                          <a:srgbClr val="000000"/>
                        </a:buClr>
                        <a:buSzPts val="1000"/>
                        <a:buFont typeface="Barlow Medium"/>
                        <a:buAutoNum type="alphaLcPeriod"/>
                      </a:pPr>
                      <a:r>
                        <a:rPr i="1" lang="en" sz="1000" u="none" cap="none" strike="noStrike">
                          <a:solidFill>
                            <a:srgbClr val="000000"/>
                          </a:solidFill>
                          <a:latin typeface="Barlow Medium"/>
                          <a:ea typeface="Barlow Medium"/>
                          <a:cs typeface="Barlow Medium"/>
                          <a:sym typeface="Barlow Medium"/>
                        </a:rPr>
                        <a:t>Feeding/ touching an animal</a:t>
                      </a:r>
                      <a:endParaRPr i="1" sz="1000" u="none" cap="none" strike="noStrike">
                        <a:solidFill>
                          <a:srgbClr val="000000"/>
                        </a:solidFill>
                        <a:latin typeface="Barlow Medium"/>
                        <a:ea typeface="Barlow Medium"/>
                        <a:cs typeface="Barlow Medium"/>
                        <a:sym typeface="Barlow Medium"/>
                      </a:endParaRPr>
                    </a:p>
                    <a:p>
                      <a:pPr indent="-139700" lvl="0" marL="228600" marR="0" rtl="0" algn="l">
                        <a:lnSpc>
                          <a:spcPct val="100000"/>
                        </a:lnSpc>
                        <a:spcBef>
                          <a:spcPts val="0"/>
                        </a:spcBef>
                        <a:spcAft>
                          <a:spcPts val="0"/>
                        </a:spcAft>
                        <a:buClr>
                          <a:srgbClr val="000000"/>
                        </a:buClr>
                        <a:buSzPts val="1000"/>
                        <a:buFont typeface="Barlow Medium"/>
                        <a:buAutoNum type="alphaLcPeriod"/>
                      </a:pPr>
                      <a:r>
                        <a:rPr i="1" lang="en" sz="1000" u="none" cap="none" strike="noStrike">
                          <a:solidFill>
                            <a:srgbClr val="000000"/>
                          </a:solidFill>
                          <a:latin typeface="Barlow Medium"/>
                          <a:ea typeface="Barlow Medium"/>
                          <a:cs typeface="Barlow Medium"/>
                          <a:sym typeface="Barlow Medium"/>
                        </a:rPr>
                        <a:t>Licking of intact skin with reliable history and thorough physical examination</a:t>
                      </a:r>
                      <a:endParaRPr i="1" sz="1000" u="none" cap="none" strike="noStrike">
                        <a:solidFill>
                          <a:srgbClr val="000000"/>
                        </a:solidFill>
                        <a:latin typeface="Barlow Medium"/>
                        <a:ea typeface="Barlow Medium"/>
                        <a:cs typeface="Barlow Medium"/>
                        <a:sym typeface="Barlow Medium"/>
                      </a:endParaRPr>
                    </a:p>
                    <a:p>
                      <a:pPr indent="-139700" lvl="0" marL="228600" marR="0" rtl="0" algn="l">
                        <a:lnSpc>
                          <a:spcPct val="100000"/>
                        </a:lnSpc>
                        <a:spcBef>
                          <a:spcPts val="0"/>
                        </a:spcBef>
                        <a:spcAft>
                          <a:spcPts val="0"/>
                        </a:spcAft>
                        <a:buClr>
                          <a:srgbClr val="000000"/>
                        </a:buClr>
                        <a:buSzPts val="1000"/>
                        <a:buFont typeface="Barlow Medium"/>
                        <a:buAutoNum type="alphaLcPeriod"/>
                      </a:pPr>
                      <a:r>
                        <a:rPr i="1" lang="en" sz="1000" u="none" cap="none" strike="noStrike">
                          <a:solidFill>
                            <a:srgbClr val="000000"/>
                          </a:solidFill>
                          <a:latin typeface="Barlow Medium"/>
                          <a:ea typeface="Barlow Medium"/>
                          <a:cs typeface="Barlow Medium"/>
                          <a:sym typeface="Barlow Medium"/>
                        </a:rPr>
                        <a:t>Exposure to patient with signs and symptoms of rabies by sharing of eating or drinking utensils</a:t>
                      </a:r>
                      <a:endParaRPr i="1" sz="1000" u="none" cap="none" strike="noStrike">
                        <a:solidFill>
                          <a:srgbClr val="000000"/>
                        </a:solidFill>
                        <a:latin typeface="Barlow Medium"/>
                        <a:ea typeface="Barlow Medium"/>
                        <a:cs typeface="Barlow Medium"/>
                        <a:sym typeface="Barlow Medium"/>
                      </a:endParaRPr>
                    </a:p>
                    <a:p>
                      <a:pPr indent="-139700" lvl="0" marL="228600" marR="0" rtl="0" algn="l">
                        <a:lnSpc>
                          <a:spcPct val="100000"/>
                        </a:lnSpc>
                        <a:spcBef>
                          <a:spcPts val="0"/>
                        </a:spcBef>
                        <a:spcAft>
                          <a:spcPts val="0"/>
                        </a:spcAft>
                        <a:buClr>
                          <a:srgbClr val="000000"/>
                        </a:buClr>
                        <a:buSzPts val="1000"/>
                        <a:buFont typeface="Barlow Medium"/>
                        <a:buAutoNum type="alphaLcPeriod"/>
                      </a:pPr>
                      <a:r>
                        <a:rPr i="1" lang="en" sz="1000" u="none" cap="none" strike="noStrike">
                          <a:solidFill>
                            <a:srgbClr val="000000"/>
                          </a:solidFill>
                          <a:latin typeface="Barlow Medium"/>
                          <a:ea typeface="Barlow Medium"/>
                          <a:cs typeface="Barlow Medium"/>
                          <a:sym typeface="Barlow Medium"/>
                        </a:rPr>
                        <a:t>Casual contact such as talking to, visiting, and feeding suspected rabies cases, and routine delivery of health care to patient with signs and symptoms of rabies</a:t>
                      </a:r>
                      <a:endParaRPr sz="1000" u="none" cap="none" strike="noStrike"/>
                    </a:p>
                  </a:txBody>
                  <a:tcPr marT="91425" marB="91425" marR="91425" marL="91425">
                    <a:lnL cap="flat" cmpd="sng" w="9525">
                      <a:solidFill>
                        <a:srgbClr val="CFE8FF">
                          <a:alpha val="0"/>
                        </a:srgbClr>
                      </a:solidFill>
                      <a:prstDash val="solid"/>
                      <a:round/>
                      <a:headEnd len="sm" w="sm" type="none"/>
                      <a:tailEnd len="sm" w="sm" type="none"/>
                    </a:lnL>
                    <a:lnR cap="flat" cmpd="sng" w="9525">
                      <a:solidFill>
                        <a:srgbClr val="CFE8FF">
                          <a:alpha val="0"/>
                        </a:srgbClr>
                      </a:solidFill>
                      <a:prstDash val="solid"/>
                      <a:round/>
                      <a:headEnd len="sm" w="sm" type="none"/>
                      <a:tailEnd len="sm" w="sm" type="none"/>
                    </a:lnR>
                    <a:lnT cap="flat" cmpd="sng" w="9525">
                      <a:solidFill>
                        <a:srgbClr val="CFE8FF">
                          <a:alpha val="0"/>
                        </a:srgbClr>
                      </a:solidFill>
                      <a:prstDash val="solid"/>
                      <a:round/>
                      <a:headEnd len="sm" w="sm" type="none"/>
                      <a:tailEnd len="sm" w="sm" type="none"/>
                    </a:lnT>
                    <a:lnB cap="flat" cmpd="sng" w="9525">
                      <a:solidFill>
                        <a:srgbClr val="CFE8FF">
                          <a:alpha val="0"/>
                        </a:srgbClr>
                      </a:solidFill>
                      <a:prstDash val="solid"/>
                      <a:round/>
                      <a:headEnd len="sm" w="sm" type="none"/>
                      <a:tailEnd len="sm" w="sm" type="none"/>
                    </a:lnB>
                    <a:solidFill>
                      <a:srgbClr val="CFE8FF"/>
                    </a:solidFill>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FFFFFF"/>
                          </a:solidFill>
                          <a:latin typeface="Barlow"/>
                          <a:ea typeface="Barlow"/>
                          <a:cs typeface="Barlow"/>
                          <a:sym typeface="Barlow"/>
                        </a:rPr>
                        <a:t>CATEGORY II</a:t>
                      </a:r>
                      <a:endParaRPr sz="14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2B600"/>
                    </a:solidFill>
                  </a:tcPr>
                </a:tc>
                <a:tc>
                  <a:txBody>
                    <a:bodyPr/>
                    <a:lstStyle/>
                    <a:p>
                      <a:pPr indent="-139700" lvl="0" marL="228600" marR="0" rtl="0" algn="l">
                        <a:lnSpc>
                          <a:spcPct val="100000"/>
                        </a:lnSpc>
                        <a:spcBef>
                          <a:spcPts val="0"/>
                        </a:spcBef>
                        <a:spcAft>
                          <a:spcPts val="0"/>
                        </a:spcAft>
                        <a:buClr>
                          <a:srgbClr val="000000"/>
                        </a:buClr>
                        <a:buSzPts val="1000"/>
                        <a:buFont typeface="Barlow Medium"/>
                        <a:buAutoNum type="alphaLcPeriod"/>
                      </a:pPr>
                      <a:r>
                        <a:rPr i="1" lang="en" sz="1000" u="none" cap="none" strike="noStrike">
                          <a:solidFill>
                            <a:srgbClr val="000000"/>
                          </a:solidFill>
                          <a:latin typeface="Barlow Medium"/>
                          <a:ea typeface="Barlow Medium"/>
                          <a:cs typeface="Barlow Medium"/>
                          <a:sym typeface="Barlow Medium"/>
                        </a:rPr>
                        <a:t>Nibbling of uncovered skin with or without bruising/ hematoma NOT in the head and neck area</a:t>
                      </a:r>
                      <a:endParaRPr i="1" sz="1000" u="none" cap="none" strike="noStrike">
                        <a:solidFill>
                          <a:srgbClr val="000000"/>
                        </a:solidFill>
                        <a:latin typeface="Barlow Medium"/>
                        <a:ea typeface="Barlow Medium"/>
                        <a:cs typeface="Barlow Medium"/>
                        <a:sym typeface="Barlow Medium"/>
                      </a:endParaRPr>
                    </a:p>
                    <a:p>
                      <a:pPr indent="-139700" lvl="0" marL="228600" marR="0" rtl="0" algn="l">
                        <a:lnSpc>
                          <a:spcPct val="100000"/>
                        </a:lnSpc>
                        <a:spcBef>
                          <a:spcPts val="0"/>
                        </a:spcBef>
                        <a:spcAft>
                          <a:spcPts val="0"/>
                        </a:spcAft>
                        <a:buClr>
                          <a:srgbClr val="000000"/>
                        </a:buClr>
                        <a:buSzPts val="1000"/>
                        <a:buFont typeface="Barlow Medium"/>
                        <a:buAutoNum type="alphaLcPeriod"/>
                      </a:pPr>
                      <a:r>
                        <a:rPr i="1" lang="en" sz="1000" u="none" cap="none" strike="noStrike">
                          <a:solidFill>
                            <a:srgbClr val="000000"/>
                          </a:solidFill>
                          <a:latin typeface="Barlow Medium"/>
                          <a:ea typeface="Barlow Medium"/>
                          <a:cs typeface="Barlow Medium"/>
                          <a:sym typeface="Barlow Medium"/>
                        </a:rPr>
                        <a:t>Minor/ superficial scratches/ abrasions without bleeding, including those induced to bleed  NOT in the head and neck area</a:t>
                      </a:r>
                      <a:endParaRPr sz="10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CFE8FF">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6D6"/>
                    </a:solidFill>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FFFFFF"/>
                          </a:solidFill>
                          <a:latin typeface="Barlow"/>
                          <a:ea typeface="Barlow"/>
                          <a:cs typeface="Barlow"/>
                          <a:sym typeface="Barlow"/>
                        </a:rPr>
                        <a:t>CATEGORY III</a:t>
                      </a:r>
                      <a:endParaRPr sz="14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29F67"/>
                    </a:solidFill>
                  </a:tcPr>
                </a:tc>
                <a:tc>
                  <a:txBody>
                    <a:bodyPr/>
                    <a:lstStyle/>
                    <a:p>
                      <a:pPr indent="-139700" lvl="0" marL="228600" marR="0" rtl="0" algn="l">
                        <a:lnSpc>
                          <a:spcPct val="100000"/>
                        </a:lnSpc>
                        <a:spcBef>
                          <a:spcPts val="0"/>
                        </a:spcBef>
                        <a:spcAft>
                          <a:spcPts val="0"/>
                        </a:spcAft>
                        <a:buClr>
                          <a:srgbClr val="000000"/>
                        </a:buClr>
                        <a:buSzPts val="1000"/>
                        <a:buFont typeface="Barlow Medium"/>
                        <a:buAutoNum type="alphaLcPeriod"/>
                      </a:pPr>
                      <a:r>
                        <a:rPr i="1" lang="en" sz="1000" u="none" cap="none" strike="noStrike">
                          <a:solidFill>
                            <a:srgbClr val="000000"/>
                          </a:solidFill>
                          <a:latin typeface="Barlow Medium"/>
                          <a:ea typeface="Barlow Medium"/>
                          <a:cs typeface="Barlow Medium"/>
                          <a:sym typeface="Barlow Medium"/>
                        </a:rPr>
                        <a:t>Transdermal bites (puncture wounds, lacerations, avulsions) or scratches/ abrasions with spontaneous bleeding</a:t>
                      </a:r>
                      <a:endParaRPr i="1" sz="1000" u="none" cap="none" strike="noStrike">
                        <a:solidFill>
                          <a:srgbClr val="000000"/>
                        </a:solidFill>
                        <a:latin typeface="Barlow Medium"/>
                        <a:ea typeface="Barlow Medium"/>
                        <a:cs typeface="Barlow Medium"/>
                        <a:sym typeface="Barlow Medium"/>
                      </a:endParaRPr>
                    </a:p>
                    <a:p>
                      <a:pPr indent="-139700" lvl="0" marL="228600" marR="0" rtl="0" algn="l">
                        <a:lnSpc>
                          <a:spcPct val="100000"/>
                        </a:lnSpc>
                        <a:spcBef>
                          <a:spcPts val="0"/>
                        </a:spcBef>
                        <a:spcAft>
                          <a:spcPts val="0"/>
                        </a:spcAft>
                        <a:buClr>
                          <a:srgbClr val="000000"/>
                        </a:buClr>
                        <a:buSzPts val="1000"/>
                        <a:buFont typeface="Barlow Medium"/>
                        <a:buAutoNum type="alphaLcPeriod"/>
                      </a:pPr>
                      <a:r>
                        <a:rPr i="1" lang="en" sz="1000" u="none" cap="none" strike="noStrike">
                          <a:solidFill>
                            <a:srgbClr val="000000"/>
                          </a:solidFill>
                          <a:latin typeface="Barlow Medium"/>
                          <a:ea typeface="Barlow Medium"/>
                          <a:cs typeface="Barlow Medium"/>
                          <a:sym typeface="Barlow Medium"/>
                        </a:rPr>
                        <a:t>Licks on broken skin or mucous membrane</a:t>
                      </a:r>
                      <a:endParaRPr i="1" sz="1000" u="none" cap="none" strike="noStrike">
                        <a:solidFill>
                          <a:srgbClr val="000000"/>
                        </a:solidFill>
                        <a:latin typeface="Barlow Medium"/>
                        <a:ea typeface="Barlow Medium"/>
                        <a:cs typeface="Barlow Medium"/>
                        <a:sym typeface="Barlow Medium"/>
                      </a:endParaRPr>
                    </a:p>
                    <a:p>
                      <a:pPr indent="-139700" lvl="0" marL="228600" marR="0" rtl="0" algn="l">
                        <a:lnSpc>
                          <a:spcPct val="100000"/>
                        </a:lnSpc>
                        <a:spcBef>
                          <a:spcPts val="0"/>
                        </a:spcBef>
                        <a:spcAft>
                          <a:spcPts val="0"/>
                        </a:spcAft>
                        <a:buClr>
                          <a:srgbClr val="000000"/>
                        </a:buClr>
                        <a:buSzPts val="1000"/>
                        <a:buFont typeface="Barlow Medium"/>
                        <a:buAutoNum type="alphaLcPeriod"/>
                      </a:pPr>
                      <a:r>
                        <a:rPr i="1" lang="en" sz="1000" u="none" cap="none" strike="noStrike">
                          <a:solidFill>
                            <a:srgbClr val="000000"/>
                          </a:solidFill>
                          <a:latin typeface="Barlow Medium"/>
                          <a:ea typeface="Barlow Medium"/>
                          <a:cs typeface="Barlow Medium"/>
                          <a:sym typeface="Barlow Medium"/>
                        </a:rPr>
                        <a:t>Exposure to a rabies patient through bites, contamination of mucous membranes such as eyes, oral/ nasal mucosa, genital/ anal mucous membrane, or open skin lesions with body fluids through splattering and mouth-to-mouth resuscitation</a:t>
                      </a:r>
                      <a:endParaRPr i="1" sz="1000" u="none" cap="none" strike="noStrike">
                        <a:solidFill>
                          <a:srgbClr val="000000"/>
                        </a:solidFill>
                        <a:latin typeface="Barlow Medium"/>
                        <a:ea typeface="Barlow Medium"/>
                        <a:cs typeface="Barlow Medium"/>
                        <a:sym typeface="Barlow Medium"/>
                      </a:endParaRPr>
                    </a:p>
                    <a:p>
                      <a:pPr indent="-139700" lvl="0" marL="228600" marR="0" rtl="0" algn="l">
                        <a:lnSpc>
                          <a:spcPct val="100000"/>
                        </a:lnSpc>
                        <a:spcBef>
                          <a:spcPts val="0"/>
                        </a:spcBef>
                        <a:spcAft>
                          <a:spcPts val="0"/>
                        </a:spcAft>
                        <a:buClr>
                          <a:srgbClr val="000000"/>
                        </a:buClr>
                        <a:buSzPts val="1000"/>
                        <a:buFont typeface="Barlow Medium"/>
                        <a:buAutoNum type="alphaLcPeriod"/>
                      </a:pPr>
                      <a:r>
                        <a:rPr i="1" lang="en" sz="1000" u="none" cap="none" strike="noStrike">
                          <a:solidFill>
                            <a:srgbClr val="000000"/>
                          </a:solidFill>
                          <a:latin typeface="Barlow Medium"/>
                          <a:ea typeface="Barlow Medium"/>
                          <a:cs typeface="Barlow Medium"/>
                          <a:sym typeface="Barlow Medium"/>
                        </a:rPr>
                        <a:t>Unprotected handling of infected carcass</a:t>
                      </a:r>
                      <a:endParaRPr i="1" sz="1000" u="none" cap="none" strike="noStrike">
                        <a:solidFill>
                          <a:srgbClr val="000000"/>
                        </a:solidFill>
                        <a:latin typeface="Barlow Medium"/>
                        <a:ea typeface="Barlow Medium"/>
                        <a:cs typeface="Barlow Medium"/>
                        <a:sym typeface="Barlow Medium"/>
                      </a:endParaRPr>
                    </a:p>
                    <a:p>
                      <a:pPr indent="-139700" lvl="0" marL="228600" marR="0" rtl="0" algn="l">
                        <a:lnSpc>
                          <a:spcPct val="100000"/>
                        </a:lnSpc>
                        <a:spcBef>
                          <a:spcPts val="0"/>
                        </a:spcBef>
                        <a:spcAft>
                          <a:spcPts val="0"/>
                        </a:spcAft>
                        <a:buClr>
                          <a:srgbClr val="000000"/>
                        </a:buClr>
                        <a:buSzPts val="1000"/>
                        <a:buFont typeface="Barlow Medium"/>
                        <a:buAutoNum type="alphaLcPeriod"/>
                      </a:pPr>
                      <a:r>
                        <a:rPr i="1" lang="en" sz="1000" u="none" cap="none" strike="noStrike">
                          <a:solidFill>
                            <a:srgbClr val="000000"/>
                          </a:solidFill>
                          <a:latin typeface="Barlow Medium"/>
                          <a:ea typeface="Barlow Medium"/>
                          <a:cs typeface="Barlow Medium"/>
                          <a:sym typeface="Barlow Medium"/>
                        </a:rPr>
                        <a:t>Ingestion of raw infected meat</a:t>
                      </a:r>
                      <a:endParaRPr i="1" sz="1000" u="none" cap="none" strike="noStrike">
                        <a:solidFill>
                          <a:srgbClr val="000000"/>
                        </a:solidFill>
                        <a:latin typeface="Barlow Medium"/>
                        <a:ea typeface="Barlow Medium"/>
                        <a:cs typeface="Barlow Medium"/>
                        <a:sym typeface="Barlow Medium"/>
                      </a:endParaRPr>
                    </a:p>
                    <a:p>
                      <a:pPr indent="-139700" lvl="0" marL="228600" marR="0" rtl="0" algn="l">
                        <a:lnSpc>
                          <a:spcPct val="100000"/>
                        </a:lnSpc>
                        <a:spcBef>
                          <a:spcPts val="0"/>
                        </a:spcBef>
                        <a:spcAft>
                          <a:spcPts val="0"/>
                        </a:spcAft>
                        <a:buClr>
                          <a:srgbClr val="000000"/>
                        </a:buClr>
                        <a:buSzPts val="1000"/>
                        <a:buFont typeface="Barlow Medium"/>
                        <a:buAutoNum type="alphaLcPeriod"/>
                      </a:pPr>
                      <a:r>
                        <a:rPr i="1" lang="en" sz="1000" u="none" cap="none" strike="noStrike">
                          <a:solidFill>
                            <a:srgbClr val="000000"/>
                          </a:solidFill>
                          <a:latin typeface="Barlow Medium"/>
                          <a:ea typeface="Barlow Medium"/>
                          <a:cs typeface="Barlow Medium"/>
                          <a:sym typeface="Barlow Medium"/>
                        </a:rPr>
                        <a:t>Exposures due to direct contact with bats (touching, bite, scratch, or mucous membrane contact) </a:t>
                      </a:r>
                      <a:endParaRPr i="1" sz="1000" u="none" cap="none" strike="noStrike">
                        <a:solidFill>
                          <a:srgbClr val="000000"/>
                        </a:solidFill>
                        <a:latin typeface="Barlow Medium"/>
                        <a:ea typeface="Barlow Medium"/>
                        <a:cs typeface="Barlow Medium"/>
                        <a:sym typeface="Barlow Medium"/>
                      </a:endParaRPr>
                    </a:p>
                    <a:p>
                      <a:pPr indent="-139700" lvl="0" marL="228600" marR="0" rtl="0" algn="l">
                        <a:lnSpc>
                          <a:spcPct val="100000"/>
                        </a:lnSpc>
                        <a:spcBef>
                          <a:spcPts val="0"/>
                        </a:spcBef>
                        <a:spcAft>
                          <a:spcPts val="0"/>
                        </a:spcAft>
                        <a:buClr>
                          <a:srgbClr val="000000"/>
                        </a:buClr>
                        <a:buSzPts val="1000"/>
                        <a:buFont typeface="Barlow Medium"/>
                        <a:buAutoNum type="alphaLcPeriod"/>
                      </a:pPr>
                      <a:r>
                        <a:rPr i="1" lang="en" sz="1000" u="none" cap="none" strike="noStrike">
                          <a:solidFill>
                            <a:srgbClr val="000000"/>
                          </a:solidFill>
                          <a:latin typeface="Barlow Medium"/>
                          <a:ea typeface="Barlow Medium"/>
                          <a:cs typeface="Barlow Medium"/>
                          <a:sym typeface="Barlow Medium"/>
                        </a:rPr>
                        <a:t>Category II exposures on head and neck area</a:t>
                      </a:r>
                      <a:endParaRPr sz="10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D8B5"/>
                    </a:solidFill>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